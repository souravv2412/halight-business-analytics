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030" autoAdjust="0"/>
  </p:normalViewPr>
  <p:slideViewPr>
    <p:cSldViewPr snapToGrid="0" snapToObjects="1">
      <p:cViewPr varScale="1">
        <p:scale>
          <a:sx n="68" d="100"/>
          <a:sy n="68" d="100"/>
        </p:scale>
        <p:origin x="3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036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"Our user profile analysis reveals a few critical hurdles. We have a clear foundation, but retention and market distribution are currently our biggest challenges."</a:t>
            </a:r>
          </a:p>
          <a:p>
            <a:r>
              <a:rPr lang="en-US" b="1" dirty="0"/>
              <a:t>Critical Bottlenecks</a:t>
            </a:r>
            <a:r>
              <a:rPr lang="en-US" dirty="0"/>
              <a:t> "We are facing a major </a:t>
            </a:r>
            <a:r>
              <a:rPr lang="en-US" b="1" dirty="0"/>
              <a:t>Churn Problem</a:t>
            </a:r>
            <a:r>
              <a:rPr lang="en-US" dirty="0"/>
              <a:t> with many deleted accounts, and a </a:t>
            </a:r>
            <a:r>
              <a:rPr lang="en-US" b="1" dirty="0"/>
              <a:t>Verification Gap</a:t>
            </a:r>
            <a:r>
              <a:rPr lang="en-US" dirty="0"/>
              <a:t> where over half our users remain unverified. Additionally, a significant number of 'Ghost Accounts' have never even logged in, signaling a need for better </a:t>
            </a:r>
            <a:r>
              <a:rPr lang="en-US" dirty="0" err="1"/>
              <a:t>onboarding."</a:t>
            </a:r>
            <a:r>
              <a:rPr lang="en-US" b="1" dirty="0" err="1"/>
              <a:t>Market</a:t>
            </a:r>
            <a:r>
              <a:rPr lang="en-US" b="1" dirty="0"/>
              <a:t> Dynamics</a:t>
            </a:r>
            <a:r>
              <a:rPr lang="en-US" dirty="0"/>
              <a:t> "While we have </a:t>
            </a:r>
            <a:r>
              <a:rPr lang="en-US" b="1" dirty="0"/>
              <a:t>US Dominance</a:t>
            </a:r>
            <a:r>
              <a:rPr lang="en-US" dirty="0"/>
              <a:t>, engagement is lagging in </a:t>
            </a:r>
            <a:r>
              <a:rPr lang="en-US" b="1" dirty="0"/>
              <a:t>Canada (CA)</a:t>
            </a:r>
            <a:r>
              <a:rPr lang="en-US" dirty="0"/>
              <a:t> and </a:t>
            </a:r>
            <a:r>
              <a:rPr lang="en-US" b="1" dirty="0"/>
              <a:t>Mexico (MX)</a:t>
            </a:r>
            <a:r>
              <a:rPr lang="en-US" dirty="0"/>
              <a:t>. Furthermore, our reliance on a few key retail clients creates a concentration risk that we must address through diversification.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"Our user profile analysis reveals a few critical hurdles. We have a clear foundation, but retention and market distribution are currently our biggest challenges."</a:t>
            </a:r>
          </a:p>
          <a:p>
            <a:r>
              <a:rPr lang="en-US" dirty="0"/>
              <a:t>"We are facing a major </a:t>
            </a:r>
            <a:r>
              <a:rPr lang="en-US" b="1" dirty="0"/>
              <a:t>Churn Problem</a:t>
            </a:r>
            <a:r>
              <a:rPr lang="en-US" dirty="0"/>
              <a:t> with many deleted accounts, and a </a:t>
            </a:r>
            <a:r>
              <a:rPr lang="en-US" b="1" dirty="0"/>
              <a:t>Verification Gap</a:t>
            </a:r>
            <a:r>
              <a:rPr lang="en-US" dirty="0"/>
              <a:t> where over half our users remain unverified. Additionally, a significant number of 'Ghost Accounts' have never even logged in, signaling a need for better onboarding."</a:t>
            </a:r>
          </a:p>
          <a:p>
            <a:r>
              <a:rPr lang="en-US" dirty="0"/>
              <a:t>"While we have </a:t>
            </a:r>
            <a:r>
              <a:rPr lang="en-US" b="1" dirty="0"/>
              <a:t>US Dominance</a:t>
            </a:r>
            <a:r>
              <a:rPr lang="en-US" dirty="0"/>
              <a:t>, engagement is lagging in </a:t>
            </a:r>
            <a:r>
              <a:rPr lang="en-US" b="1" dirty="0"/>
              <a:t>Canada (CA)</a:t>
            </a:r>
            <a:r>
              <a:rPr lang="en-US" dirty="0"/>
              <a:t> and </a:t>
            </a:r>
            <a:r>
              <a:rPr lang="en-US" b="1" dirty="0"/>
              <a:t>Mexico (MX)</a:t>
            </a:r>
            <a:r>
              <a:rPr lang="en-US" dirty="0"/>
              <a:t>. Furthermore, our reliance on a few key retail clients creates a concentration risk that we must address through diversification.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"Our engagement follows a classic </a:t>
            </a:r>
            <a:r>
              <a:rPr lang="en-US" b="1" dirty="0"/>
              <a:t>80/20 distribution</a:t>
            </a:r>
            <a:r>
              <a:rPr lang="en-US" dirty="0"/>
              <a:t>. Instead of a steady 'normal' curve, we see an extreme power-law where a tiny minority is doing most of the heavy lifting. This creates two distinct groups we need to manage differently."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The </a:t>
            </a:r>
            <a:r>
              <a:rPr lang="en-US" b="1" dirty="0"/>
              <a:t>Inactive Majority:</a:t>
            </a:r>
            <a:r>
              <a:rPr lang="en-US" dirty="0"/>
              <a:t> Most users have zero to near-zero activity. They are currently 'dormant' on the platform.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Power User Minority:</a:t>
            </a:r>
            <a:r>
              <a:rPr lang="en-US" dirty="0"/>
              <a:t> A small segment drives the vast majority of our activity. This means </a:t>
            </a:r>
            <a:r>
              <a:rPr lang="en-US" b="1" dirty="0"/>
              <a:t>Retention</a:t>
            </a:r>
            <a:r>
              <a:rPr lang="en-US" dirty="0"/>
              <a:t> is critical—losing even one power user has an outsized negative impact on our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Growth Opportunity:</a:t>
            </a:r>
            <a:r>
              <a:rPr lang="en-US" dirty="0"/>
              <a:t> Because the inactive group is so large, converting even </a:t>
            </a:r>
            <a:r>
              <a:rPr lang="en-US" b="1" dirty="0"/>
              <a:t>1%</a:t>
            </a:r>
            <a:r>
              <a:rPr lang="en-US" dirty="0"/>
              <a:t> of them into active users would lead to massive, exponential growth.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4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31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4.png"/><Relationship Id="rId9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2000" y="2157413"/>
            <a:ext cx="10668000" cy="1733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Halight Performance Intelligence Dashboard</a:t>
            </a:r>
            <a:endParaRPr lang="en-US" sz="4800" dirty="0"/>
          </a:p>
        </p:txBody>
      </p:sp>
      <p:sp>
        <p:nvSpPr>
          <p:cNvPr id="6" name="Text 1"/>
          <p:cNvSpPr/>
          <p:nvPr/>
        </p:nvSpPr>
        <p:spPr>
          <a:xfrm>
            <a:off x="-3962400" y="4081463"/>
            <a:ext cx="20116800" cy="4095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Transforming Raw Data into Real-Time Business Decisions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1981200" y="5253038"/>
            <a:ext cx="8229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D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Aum · Sakshi · Souravdeep · Faiyaz · Priyanka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 8 | St. Clair College — Capstone Project II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65747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419475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181475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94347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0" y="3126284"/>
            <a:ext cx="5048250" cy="1996083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62000" y="952500"/>
            <a:ext cx="1426464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 We Are Solving</a:t>
            </a:r>
            <a:endParaRPr lang="en-US" sz="3600" dirty="0"/>
          </a:p>
        </p:txBody>
      </p:sp>
      <p:sp>
        <p:nvSpPr>
          <p:cNvPr id="10" name="Text 1"/>
          <p:cNvSpPr/>
          <p:nvPr/>
        </p:nvSpPr>
        <p:spPr>
          <a:xfrm>
            <a:off x="762000" y="1905000"/>
            <a:ext cx="2084832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Halight has a data visibility gap that delays critical leadership decisions.</a:t>
            </a:r>
            <a:endParaRPr lang="en-US" sz="1800" dirty="0"/>
          </a:p>
        </p:txBody>
      </p:sp>
      <p:sp>
        <p:nvSpPr>
          <p:cNvPr id="11" name="Text 2"/>
          <p:cNvSpPr/>
          <p:nvPr/>
        </p:nvSpPr>
        <p:spPr>
          <a:xfrm>
            <a:off x="1181100" y="2600325"/>
            <a:ext cx="50482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Millions of daily interactions are generated without a unified real-time view.</a:t>
            </a:r>
            <a:endParaRPr lang="en-US" sz="1650" dirty="0"/>
          </a:p>
        </p:txBody>
      </p:sp>
      <p:sp>
        <p:nvSpPr>
          <p:cNvPr id="12" name="Text 3"/>
          <p:cNvSpPr/>
          <p:nvPr/>
        </p:nvSpPr>
        <p:spPr>
          <a:xfrm>
            <a:off x="1238250" y="3362325"/>
            <a:ext cx="50482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live view of which users are at risk of leaving (churn).</a:t>
            </a:r>
            <a:endParaRPr lang="en-US" sz="1650" dirty="0"/>
          </a:p>
        </p:txBody>
      </p:sp>
      <p:sp>
        <p:nvSpPr>
          <p:cNvPr id="13" name="Text 4"/>
          <p:cNvSpPr/>
          <p:nvPr/>
        </p:nvSpPr>
        <p:spPr>
          <a:xfrm>
            <a:off x="1238250" y="4124325"/>
            <a:ext cx="50482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Inability to identify underperforming retail clients instantly.</a:t>
            </a:r>
            <a:endParaRPr lang="en-US" sz="1650" dirty="0"/>
          </a:p>
        </p:txBody>
      </p:sp>
      <p:sp>
        <p:nvSpPr>
          <p:cNvPr id="14" name="Text 5"/>
          <p:cNvSpPr/>
          <p:nvPr/>
        </p:nvSpPr>
        <p:spPr>
          <a:xfrm>
            <a:off x="1181100" y="4886325"/>
            <a:ext cx="50482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are manual, delayed, and disconnected from immediate action.</a:t>
            </a:r>
            <a:endParaRPr lang="en-US" sz="1650" dirty="0"/>
          </a:p>
        </p:txBody>
      </p:sp>
      <p:sp>
        <p:nvSpPr>
          <p:cNvPr id="15" name="Text 6"/>
          <p:cNvSpPr/>
          <p:nvPr/>
        </p:nvSpPr>
        <p:spPr>
          <a:xfrm>
            <a:off x="6667500" y="3412034"/>
            <a:ext cx="447675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D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6" name="Text 7"/>
          <p:cNvSpPr/>
          <p:nvPr/>
        </p:nvSpPr>
        <p:spPr>
          <a:xfrm>
            <a:off x="6667500" y="3831134"/>
            <a:ext cx="4476750" cy="10054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4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live </a:t>
            </a:r>
            <a:r>
              <a:rPr lang="en-US" sz="16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Information Radiator Dashboard</a:t>
            </a:r>
            <a:r>
              <a:rPr lang="en-US" sz="1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always-on, auto-updating, and built for real-time strategic decisions, not spreadsheets.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790825"/>
            <a:ext cx="3365450" cy="280972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" y="3076575"/>
            <a:ext cx="819150" cy="2952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3200" y="2790825"/>
            <a:ext cx="3365450" cy="280972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8950" y="3076575"/>
            <a:ext cx="819150" cy="2952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401" y="2790825"/>
            <a:ext cx="3365599" cy="280972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0151" y="3076575"/>
            <a:ext cx="819150" cy="29527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62000" y="952500"/>
            <a:ext cx="1066800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11" name="Text 1"/>
          <p:cNvSpPr/>
          <p:nvPr/>
        </p:nvSpPr>
        <p:spPr>
          <a:xfrm>
            <a:off x="762000" y="1905000"/>
            <a:ext cx="1920240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end-to-end data intelligence system covering three critical layers.</a:t>
            </a:r>
            <a:endParaRPr lang="en-US" sz="1800" dirty="0"/>
          </a:p>
        </p:txBody>
      </p:sp>
      <p:sp>
        <p:nvSpPr>
          <p:cNvPr id="12" name="Text 2"/>
          <p:cNvSpPr/>
          <p:nvPr/>
        </p:nvSpPr>
        <p:spPr>
          <a:xfrm>
            <a:off x="1200150" y="3076575"/>
            <a:ext cx="770329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957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LAYER 1</a:t>
            </a:r>
            <a:endParaRPr lang="en-US" sz="1050" dirty="0"/>
          </a:p>
        </p:txBody>
      </p:sp>
      <p:sp>
        <p:nvSpPr>
          <p:cNvPr id="13" name="Text 3"/>
          <p:cNvSpPr/>
          <p:nvPr/>
        </p:nvSpPr>
        <p:spPr>
          <a:xfrm>
            <a:off x="1047750" y="3524250"/>
            <a:ext cx="438912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Engineering</a:t>
            </a:r>
            <a:endParaRPr lang="en-US" sz="1800" dirty="0"/>
          </a:p>
        </p:txBody>
      </p:sp>
      <p:sp>
        <p:nvSpPr>
          <p:cNvPr id="14" name="Text 4"/>
          <p:cNvSpPr/>
          <p:nvPr/>
        </p:nvSpPr>
        <p:spPr>
          <a:xfrm>
            <a:off x="1047750" y="3943350"/>
            <a:ext cx="2793950" cy="13714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directly to Halight's AWS Athena database. Built a caching pipeline for instant dashboard loading without repeated AWS queries.</a:t>
            </a:r>
            <a:endParaRPr lang="en-US" sz="1350" dirty="0"/>
          </a:p>
        </p:txBody>
      </p:sp>
      <p:sp>
        <p:nvSpPr>
          <p:cNvPr id="15" name="Text 5"/>
          <p:cNvSpPr/>
          <p:nvPr/>
        </p:nvSpPr>
        <p:spPr>
          <a:xfrm>
            <a:off x="4851350" y="3076575"/>
            <a:ext cx="770329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957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LAYER 2</a:t>
            </a:r>
            <a:endParaRPr lang="en-US" sz="1050" dirty="0"/>
          </a:p>
        </p:txBody>
      </p:sp>
      <p:sp>
        <p:nvSpPr>
          <p:cNvPr id="16" name="Text 6"/>
          <p:cNvSpPr/>
          <p:nvPr/>
        </p:nvSpPr>
        <p:spPr>
          <a:xfrm>
            <a:off x="4698950" y="3524250"/>
            <a:ext cx="384048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 &amp; ML</a:t>
            </a:r>
            <a:endParaRPr lang="en-US" sz="1800" dirty="0"/>
          </a:p>
        </p:txBody>
      </p:sp>
      <p:sp>
        <p:nvSpPr>
          <p:cNvPr id="17" name="Text 7"/>
          <p:cNvSpPr/>
          <p:nvPr/>
        </p:nvSpPr>
        <p:spPr>
          <a:xfrm>
            <a:off x="4698950" y="3943350"/>
            <a:ext cx="2793950" cy="10971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Analyzed 475,000+ records. Developed churn prediction, user segmentation (RFM), and engagement scoring models.</a:t>
            </a:r>
            <a:endParaRPr lang="en-US" sz="1350" dirty="0"/>
          </a:p>
        </p:txBody>
      </p:sp>
      <p:sp>
        <p:nvSpPr>
          <p:cNvPr id="18" name="Text 8"/>
          <p:cNvSpPr/>
          <p:nvPr/>
        </p:nvSpPr>
        <p:spPr>
          <a:xfrm>
            <a:off x="8502551" y="3076575"/>
            <a:ext cx="770329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957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LAYER 3</a:t>
            </a:r>
            <a:endParaRPr lang="en-US" sz="1050" dirty="0"/>
          </a:p>
        </p:txBody>
      </p:sp>
      <p:sp>
        <p:nvSpPr>
          <p:cNvPr id="19" name="Text 9"/>
          <p:cNvSpPr/>
          <p:nvPr/>
        </p:nvSpPr>
        <p:spPr>
          <a:xfrm>
            <a:off x="8350151" y="3524250"/>
            <a:ext cx="384048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Dashboard</a:t>
            </a:r>
            <a:endParaRPr lang="en-US" sz="1800" dirty="0"/>
          </a:p>
        </p:txBody>
      </p:sp>
      <p:sp>
        <p:nvSpPr>
          <p:cNvPr id="20" name="Text 10"/>
          <p:cNvSpPr/>
          <p:nvPr/>
        </p:nvSpPr>
        <p:spPr>
          <a:xfrm>
            <a:off x="8350151" y="3943350"/>
            <a:ext cx="2794099" cy="10971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5-page Flask web dashboard displaying real-time KPIs, ML predictions, and AI-generated insight summaries.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37172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847975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324225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086225"/>
            <a:ext cx="257175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0" y="2138363"/>
            <a:ext cx="5048250" cy="241935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62000" y="952500"/>
            <a:ext cx="1261872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Dataset at a Glance</a:t>
            </a:r>
            <a:endParaRPr lang="en-US" sz="3600" dirty="0"/>
          </a:p>
        </p:txBody>
      </p:sp>
      <p:sp>
        <p:nvSpPr>
          <p:cNvPr id="10" name="Text 1"/>
          <p:cNvSpPr/>
          <p:nvPr/>
        </p:nvSpPr>
        <p:spPr>
          <a:xfrm>
            <a:off x="762000" y="1905000"/>
            <a:ext cx="504825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404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Data Components</a:t>
            </a:r>
            <a:endParaRPr lang="en-US" sz="1404" dirty="0"/>
          </a:p>
        </p:txBody>
      </p:sp>
      <p:sp>
        <p:nvSpPr>
          <p:cNvPr id="11" name="Text 2"/>
          <p:cNvSpPr/>
          <p:nvPr/>
        </p:nvSpPr>
        <p:spPr>
          <a:xfrm>
            <a:off x="1181100" y="2314575"/>
            <a:ext cx="1165098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 Tables: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database structure analyzed.</a:t>
            </a:r>
            <a:endParaRPr lang="en-US" sz="1650" dirty="0"/>
          </a:p>
        </p:txBody>
      </p:sp>
      <p:sp>
        <p:nvSpPr>
          <p:cNvPr id="12" name="Text 3"/>
          <p:cNvSpPr/>
          <p:nvPr/>
        </p:nvSpPr>
        <p:spPr>
          <a:xfrm>
            <a:off x="1238250" y="2790825"/>
            <a:ext cx="1207008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Identity, status, and lifecycle tracking.</a:t>
            </a:r>
            <a:endParaRPr lang="en-US" sz="1650" dirty="0"/>
          </a:p>
        </p:txBody>
      </p:sp>
      <p:sp>
        <p:nvSpPr>
          <p:cNvPr id="13" name="Text 4"/>
          <p:cNvSpPr/>
          <p:nvPr/>
        </p:nvSpPr>
        <p:spPr>
          <a:xfrm>
            <a:off x="1181100" y="3267075"/>
            <a:ext cx="50482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Activity: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attempts, claims, and comments.</a:t>
            </a:r>
            <a:endParaRPr lang="en-US" sz="1650" dirty="0"/>
          </a:p>
        </p:txBody>
      </p:sp>
      <p:sp>
        <p:nvSpPr>
          <p:cNvPr id="14" name="Text 5"/>
          <p:cNvSpPr/>
          <p:nvPr/>
        </p:nvSpPr>
        <p:spPr>
          <a:xfrm>
            <a:off x="1209675" y="4029075"/>
            <a:ext cx="50482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Views: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Aggregated lifetime stats and monthly versions.</a:t>
            </a:r>
            <a:endParaRPr lang="en-US" sz="1650" dirty="0"/>
          </a:p>
        </p:txBody>
      </p:sp>
      <p:sp>
        <p:nvSpPr>
          <p:cNvPr id="15" name="Text 6"/>
          <p:cNvSpPr/>
          <p:nvPr/>
        </p:nvSpPr>
        <p:spPr>
          <a:xfrm>
            <a:off x="6667500" y="2424113"/>
            <a:ext cx="576072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 Captured</a:t>
            </a:r>
            <a:endParaRPr lang="en-US" sz="1800" dirty="0"/>
          </a:p>
        </p:txBody>
      </p:sp>
      <p:sp>
        <p:nvSpPr>
          <p:cNvPr id="16" name="Text 7"/>
          <p:cNvSpPr/>
          <p:nvPr/>
        </p:nvSpPr>
        <p:spPr>
          <a:xfrm>
            <a:off x="6667500" y="2843213"/>
            <a:ext cx="100584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 verification &amp; geographic region</a:t>
            </a:r>
            <a:endParaRPr lang="en-US" sz="1650" dirty="0"/>
          </a:p>
        </p:txBody>
      </p:sp>
      <p:sp>
        <p:nvSpPr>
          <p:cNvPr id="17" name="Text 8"/>
          <p:cNvSpPr/>
          <p:nvPr/>
        </p:nvSpPr>
        <p:spPr>
          <a:xfrm>
            <a:off x="6667500" y="3319463"/>
            <a:ext cx="854964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completions &amp; active days</a:t>
            </a:r>
            <a:endParaRPr lang="en-US" sz="1650" dirty="0"/>
          </a:p>
        </p:txBody>
      </p:sp>
      <p:sp>
        <p:nvSpPr>
          <p:cNvPr id="18" name="Text 9"/>
          <p:cNvSpPr/>
          <p:nvPr/>
        </p:nvSpPr>
        <p:spPr>
          <a:xfrm>
            <a:off x="6667500" y="3795713"/>
            <a:ext cx="100584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Points, achievements &amp; referral activity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600325"/>
            <a:ext cx="5143500" cy="3276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600325"/>
            <a:ext cx="5143500" cy="32766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62000" y="952500"/>
            <a:ext cx="1066800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Are the Users?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762000" y="1905000"/>
            <a:ext cx="1591056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findings from our comprehensive user profile analysis.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1047750" y="2886075"/>
            <a:ext cx="54864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Bottlenecks</a:t>
            </a:r>
            <a:endParaRPr lang="en-US" sz="1800" dirty="0"/>
          </a:p>
        </p:txBody>
      </p:sp>
      <p:sp>
        <p:nvSpPr>
          <p:cNvPr id="9" name="Text 3"/>
          <p:cNvSpPr/>
          <p:nvPr/>
        </p:nvSpPr>
        <p:spPr>
          <a:xfrm>
            <a:off x="1047750" y="3305175"/>
            <a:ext cx="4572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Churn Problem: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Massive portion of users are deleted/disabled.</a:t>
            </a:r>
            <a:endParaRPr lang="en-US" sz="1650" dirty="0"/>
          </a:p>
        </p:txBody>
      </p:sp>
      <p:sp>
        <p:nvSpPr>
          <p:cNvPr id="10" name="Text 4"/>
          <p:cNvSpPr/>
          <p:nvPr/>
        </p:nvSpPr>
        <p:spPr>
          <a:xfrm>
            <a:off x="1047750" y="4067175"/>
            <a:ext cx="4572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Verification Gap: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&lt; 50% of users have ever verified accounts.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1047750" y="4829175"/>
            <a:ext cx="4572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Ghost Accounts: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Measurable percentage never logged in once.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6572250" y="2886075"/>
            <a:ext cx="457200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Dynamics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6572250" y="3305175"/>
            <a:ext cx="4572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 Dominance: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market; CA &amp; MX lagging in engagement.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572250" y="4067175"/>
            <a:ext cx="4572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Retail Dominance: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 depends on few key client relationships.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007072"/>
            <a:ext cx="5048250" cy="204400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2000" y="952500"/>
            <a:ext cx="1097280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 Deep Dive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762000" y="1905000"/>
            <a:ext cx="1563624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platform faces a significant dual-population problem.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481965" y="3197572"/>
            <a:ext cx="5608320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80/20</a:t>
            </a:r>
            <a:endParaRPr lang="en-US" sz="4800" dirty="0"/>
          </a:p>
        </p:txBody>
      </p:sp>
      <p:sp>
        <p:nvSpPr>
          <p:cNvPr id="8" name="Text 3"/>
          <p:cNvSpPr/>
          <p:nvPr/>
        </p:nvSpPr>
        <p:spPr>
          <a:xfrm>
            <a:off x="952500" y="3940522"/>
            <a:ext cx="4667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350" kern="0" spc="6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ACTIVITY DISTRIBUTION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952500" y="4311997"/>
            <a:ext cx="466725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Extreme power-law curves rather than normal distributions.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381750" y="2600325"/>
            <a:ext cx="504825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404" b="1" dirty="0">
                <a:solidFill>
                  <a:srgbClr val="006D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Implications</a:t>
            </a:r>
            <a:endParaRPr lang="en-US" sz="1404" dirty="0"/>
          </a:p>
        </p:txBody>
      </p:sp>
      <p:sp>
        <p:nvSpPr>
          <p:cNvPr id="11" name="Text 6"/>
          <p:cNvSpPr/>
          <p:nvPr/>
        </p:nvSpPr>
        <p:spPr>
          <a:xfrm>
            <a:off x="6381750" y="2981325"/>
            <a:ext cx="50482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Inactive Majority: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users have zero or near-zero activity.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6381750" y="3743325"/>
            <a:ext cx="50482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User Minority: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Small segment drives disproportionate activity.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381750" y="4505325"/>
            <a:ext cx="125730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Retention: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Losing power users has outsized impact.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6381750" y="4981575"/>
            <a:ext cx="129921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Growth: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Converting even 1% of inactives is massive.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105150"/>
            <a:ext cx="10668000" cy="26860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105150"/>
            <a:ext cx="2143571" cy="5524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5571" y="3105150"/>
            <a:ext cx="2383185" cy="552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8756" y="3105150"/>
            <a:ext cx="6141244" cy="552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657600"/>
            <a:ext cx="2143571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5571" y="3657600"/>
            <a:ext cx="2383185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8756" y="3657600"/>
            <a:ext cx="6141244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4191000"/>
            <a:ext cx="1066800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191000"/>
            <a:ext cx="2143571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5571" y="4191000"/>
            <a:ext cx="2383185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8756" y="4191000"/>
            <a:ext cx="6141244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724400"/>
            <a:ext cx="2143571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5571" y="4724400"/>
            <a:ext cx="2383185" cy="533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8756" y="4724400"/>
            <a:ext cx="6141244" cy="533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5257800"/>
            <a:ext cx="10668000" cy="533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762000" y="952500"/>
            <a:ext cx="1591056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Segmentation (RFM Model)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762000" y="1905000"/>
            <a:ext cx="10668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Segmenting every user into actionable groups using Recency, Frequency, and Monetary scores (3–15).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990600" y="3105150"/>
            <a:ext cx="1686371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3134171" y="3105150"/>
            <a:ext cx="1925985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Definition</a:t>
            </a:r>
            <a:endParaRPr lang="en-US" sz="1350" dirty="0"/>
          </a:p>
        </p:txBody>
      </p:sp>
      <p:sp>
        <p:nvSpPr>
          <p:cNvPr id="23" name="Text 4"/>
          <p:cNvSpPr/>
          <p:nvPr/>
        </p:nvSpPr>
        <p:spPr>
          <a:xfrm>
            <a:off x="5517356" y="3105150"/>
            <a:ext cx="5684044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Action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990600" y="3810000"/>
            <a:ext cx="22631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Users</a:t>
            </a:r>
            <a:endParaRPr lang="en-US" sz="1350" dirty="0"/>
          </a:p>
        </p:txBody>
      </p:sp>
      <p:sp>
        <p:nvSpPr>
          <p:cNvPr id="25" name="Text 6"/>
          <p:cNvSpPr/>
          <p:nvPr/>
        </p:nvSpPr>
        <p:spPr>
          <a:xfrm>
            <a:off x="3134171" y="3657600"/>
            <a:ext cx="293743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RFM score 12–15</a:t>
            </a:r>
            <a:endParaRPr lang="en-US" sz="1350" dirty="0"/>
          </a:p>
        </p:txBody>
      </p:sp>
      <p:sp>
        <p:nvSpPr>
          <p:cNvPr id="26" name="Text 7"/>
          <p:cNvSpPr/>
          <p:nvPr/>
        </p:nvSpPr>
        <p:spPr>
          <a:xfrm>
            <a:off x="5517356" y="3657600"/>
            <a:ext cx="894988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 and reward — highest retention priority</a:t>
            </a:r>
            <a:endParaRPr lang="en-US" sz="1350" dirty="0"/>
          </a:p>
        </p:txBody>
      </p:sp>
      <p:sp>
        <p:nvSpPr>
          <p:cNvPr id="27" name="Text 8"/>
          <p:cNvSpPr/>
          <p:nvPr/>
        </p:nvSpPr>
        <p:spPr>
          <a:xfrm>
            <a:off x="990600" y="4343400"/>
            <a:ext cx="2468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Casual Users</a:t>
            </a:r>
            <a:endParaRPr lang="en-US" sz="1350" dirty="0"/>
          </a:p>
        </p:txBody>
      </p:sp>
      <p:sp>
        <p:nvSpPr>
          <p:cNvPr id="28" name="Text 9"/>
          <p:cNvSpPr/>
          <p:nvPr/>
        </p:nvSpPr>
        <p:spPr>
          <a:xfrm>
            <a:off x="3134171" y="4191000"/>
            <a:ext cx="266032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RFM score 8–11</a:t>
            </a:r>
            <a:endParaRPr lang="en-US" sz="1350" dirty="0"/>
          </a:p>
        </p:txBody>
      </p:sp>
      <p:sp>
        <p:nvSpPr>
          <p:cNvPr id="29" name="Text 10"/>
          <p:cNvSpPr/>
          <p:nvPr/>
        </p:nvSpPr>
        <p:spPr>
          <a:xfrm>
            <a:off x="5517356" y="4191000"/>
            <a:ext cx="837862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Nurture with targeted content and incentives</a:t>
            </a:r>
            <a:endParaRPr lang="en-US" sz="1350" dirty="0"/>
          </a:p>
        </p:txBody>
      </p:sp>
      <p:sp>
        <p:nvSpPr>
          <p:cNvPr id="30" name="Text 11"/>
          <p:cNvSpPr/>
          <p:nvPr/>
        </p:nvSpPr>
        <p:spPr>
          <a:xfrm>
            <a:off x="990600" y="4876800"/>
            <a:ext cx="26746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At-Risk Users</a:t>
            </a:r>
            <a:endParaRPr lang="en-US" sz="1350" dirty="0"/>
          </a:p>
        </p:txBody>
      </p:sp>
      <p:sp>
        <p:nvSpPr>
          <p:cNvPr id="31" name="Text 12"/>
          <p:cNvSpPr/>
          <p:nvPr/>
        </p:nvSpPr>
        <p:spPr>
          <a:xfrm>
            <a:off x="3134171" y="4724400"/>
            <a:ext cx="238320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RFM score 5–7</a:t>
            </a:r>
            <a:endParaRPr lang="en-US" sz="1350" dirty="0"/>
          </a:p>
        </p:txBody>
      </p:sp>
      <p:sp>
        <p:nvSpPr>
          <p:cNvPr id="32" name="Text 13"/>
          <p:cNvSpPr/>
          <p:nvPr/>
        </p:nvSpPr>
        <p:spPr>
          <a:xfrm>
            <a:off x="5517356" y="4724400"/>
            <a:ext cx="78073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Re-engagement campaigns before they churn</a:t>
            </a:r>
            <a:endParaRPr lang="en-US" sz="1350" dirty="0"/>
          </a:p>
        </p:txBody>
      </p:sp>
      <p:sp>
        <p:nvSpPr>
          <p:cNvPr id="33" name="Text 14"/>
          <p:cNvSpPr/>
          <p:nvPr/>
        </p:nvSpPr>
        <p:spPr>
          <a:xfrm>
            <a:off x="990600" y="5410200"/>
            <a:ext cx="2880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Inactive Users</a:t>
            </a:r>
            <a:endParaRPr lang="en-US" sz="1350" dirty="0"/>
          </a:p>
        </p:txBody>
      </p:sp>
      <p:sp>
        <p:nvSpPr>
          <p:cNvPr id="34" name="Text 15"/>
          <p:cNvSpPr/>
          <p:nvPr/>
        </p:nvSpPr>
        <p:spPr>
          <a:xfrm>
            <a:off x="3134171" y="5257800"/>
            <a:ext cx="238320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RFM score 3–4</a:t>
            </a:r>
            <a:endParaRPr lang="en-US" sz="1350" dirty="0"/>
          </a:p>
        </p:txBody>
      </p:sp>
      <p:sp>
        <p:nvSpPr>
          <p:cNvPr id="35" name="Text 16"/>
          <p:cNvSpPr/>
          <p:nvPr/>
        </p:nvSpPr>
        <p:spPr>
          <a:xfrm>
            <a:off x="5517356" y="5257800"/>
            <a:ext cx="952115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Win-back or sunset — lowest conversion probability</a:t>
            </a:r>
            <a:endParaRPr lang="en-US" sz="1350" dirty="0"/>
          </a:p>
        </p:txBody>
      </p:sp>
      <p:sp>
        <p:nvSpPr>
          <p:cNvPr id="36" name="Text 17"/>
          <p:cNvSpPr/>
          <p:nvPr/>
        </p:nvSpPr>
        <p:spPr>
          <a:xfrm>
            <a:off x="762000" y="5981700"/>
            <a:ext cx="164592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Note: RFM produces segments directly actionable by marketing teams without interpretation.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1923157"/>
            <a:ext cx="5048250" cy="258306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2628007"/>
            <a:ext cx="4476750" cy="2095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0" y="2980432"/>
            <a:ext cx="4476750" cy="209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0" y="3332857"/>
            <a:ext cx="4476750" cy="20955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62000" y="952500"/>
            <a:ext cx="1207008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Prediction Model</a:t>
            </a:r>
            <a:endParaRPr lang="en-US" sz="3600" dirty="0"/>
          </a:p>
        </p:txBody>
      </p:sp>
      <p:sp>
        <p:nvSpPr>
          <p:cNvPr id="9" name="Text 1"/>
          <p:cNvSpPr/>
          <p:nvPr/>
        </p:nvSpPr>
        <p:spPr>
          <a:xfrm>
            <a:off x="762000" y="1905000"/>
            <a:ext cx="504825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404" b="1" dirty="0">
                <a:solidFill>
                  <a:srgbClr val="006D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Specifics</a:t>
            </a:r>
            <a:endParaRPr lang="en-US" sz="1404" dirty="0"/>
          </a:p>
        </p:txBody>
      </p:sp>
      <p:sp>
        <p:nvSpPr>
          <p:cNvPr id="10" name="Text 2"/>
          <p:cNvSpPr/>
          <p:nvPr/>
        </p:nvSpPr>
        <p:spPr>
          <a:xfrm>
            <a:off x="762000" y="2333625"/>
            <a:ext cx="75438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Algorithm: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XGBoost Classifier.</a:t>
            </a:r>
            <a:endParaRPr lang="en-US" sz="1650" dirty="0"/>
          </a:p>
        </p:txBody>
      </p:sp>
      <p:sp>
        <p:nvSpPr>
          <p:cNvPr id="11" name="Text 3"/>
          <p:cNvSpPr/>
          <p:nvPr/>
        </p:nvSpPr>
        <p:spPr>
          <a:xfrm>
            <a:off x="762000" y="2809875"/>
            <a:ext cx="854964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200,000 user sample.</a:t>
            </a:r>
            <a:endParaRPr lang="en-US" sz="1650" dirty="0"/>
          </a:p>
        </p:txBody>
      </p:sp>
      <p:sp>
        <p:nvSpPr>
          <p:cNvPr id="12" name="Text 4"/>
          <p:cNvSpPr/>
          <p:nvPr/>
        </p:nvSpPr>
        <p:spPr>
          <a:xfrm>
            <a:off x="762000" y="3286125"/>
            <a:ext cx="1366266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Features: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signals (completions, active days, etc).</a:t>
            </a:r>
            <a:endParaRPr lang="en-US" sz="1650" dirty="0"/>
          </a:p>
        </p:txBody>
      </p:sp>
      <p:sp>
        <p:nvSpPr>
          <p:cNvPr id="13" name="Text 5"/>
          <p:cNvSpPr/>
          <p:nvPr/>
        </p:nvSpPr>
        <p:spPr>
          <a:xfrm>
            <a:off x="762000" y="3762375"/>
            <a:ext cx="50482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Design:</a:t>
            </a:r>
            <a:r>
              <a:rPr lang="en-US" sz="16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Excluded "days since last login" to ensure real-world utility.</a:t>
            </a:r>
            <a:endParaRPr lang="en-US" sz="1650" dirty="0"/>
          </a:p>
        </p:txBody>
      </p:sp>
      <p:sp>
        <p:nvSpPr>
          <p:cNvPr id="14" name="Text 6"/>
          <p:cNvSpPr/>
          <p:nvPr/>
        </p:nvSpPr>
        <p:spPr>
          <a:xfrm>
            <a:off x="6667500" y="2208907"/>
            <a:ext cx="447675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Tiers</a:t>
            </a:r>
            <a:endParaRPr lang="en-US" sz="1800" dirty="0"/>
          </a:p>
        </p:txBody>
      </p:sp>
      <p:sp>
        <p:nvSpPr>
          <p:cNvPr id="15" name="Text 7"/>
          <p:cNvSpPr/>
          <p:nvPr/>
        </p:nvSpPr>
        <p:spPr>
          <a:xfrm>
            <a:off x="6810375" y="2628007"/>
            <a:ext cx="164592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Risk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10810875" y="2628007"/>
            <a:ext cx="115824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≥ 0.7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6810375" y="2980432"/>
            <a:ext cx="201168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 Risk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10572750" y="2980432"/>
            <a:ext cx="2133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0.4 – 0.7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6810375" y="3332857"/>
            <a:ext cx="146304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Risk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10810875" y="3332857"/>
            <a:ext cx="115824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&lt; 0.4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6667500" y="3732907"/>
            <a:ext cx="4476750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Risk users are surfaced on the </a:t>
            </a:r>
            <a:r>
              <a:rPr lang="en-US" sz="1200" b="1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 Action Board</a:t>
            </a:r>
            <a:r>
              <a:rPr lang="en-US" sz="120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immediate retention campaigns.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470694" y="736867"/>
            <a:ext cx="4914181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Preview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2882283" y="1446849"/>
            <a:ext cx="8547717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 in Progress - 5-Page Integrated Flask Web Dashboard</a:t>
            </a:r>
            <a:endParaRPr lang="en-US" sz="1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19E85D5-DC4D-1264-FB90-34473A987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9767" y="1866530"/>
            <a:ext cx="8754862" cy="49914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10668000" cy="4286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095500"/>
            <a:ext cx="7001470" cy="5524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470" y="2095500"/>
            <a:ext cx="3666530" cy="552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647950"/>
            <a:ext cx="7001470" cy="533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3470" y="2647950"/>
            <a:ext cx="366653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2070" y="2838450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181350"/>
            <a:ext cx="10668000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181350"/>
            <a:ext cx="700147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3470" y="3181350"/>
            <a:ext cx="3666530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2070" y="3371850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714750"/>
            <a:ext cx="7001470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3470" y="3714750"/>
            <a:ext cx="3666530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2070" y="3905250"/>
            <a:ext cx="17145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4248150"/>
            <a:ext cx="10668000" cy="533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248150"/>
            <a:ext cx="7001470" cy="533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3470" y="4248150"/>
            <a:ext cx="3666530" cy="533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2070" y="4438650"/>
            <a:ext cx="171450" cy="1714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781550"/>
            <a:ext cx="7001470" cy="533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3470" y="4781550"/>
            <a:ext cx="3666530" cy="533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2070" y="4972050"/>
            <a:ext cx="171450" cy="1714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5314950"/>
            <a:ext cx="10668000" cy="533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5314950"/>
            <a:ext cx="7001470" cy="533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3470" y="5314950"/>
            <a:ext cx="3666530" cy="533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2070" y="5505450"/>
            <a:ext cx="171450" cy="1714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2070" y="6038850"/>
            <a:ext cx="171450" cy="1714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6667500"/>
            <a:ext cx="10668000" cy="59055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762000" y="952500"/>
            <a:ext cx="1066800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D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31" name="Text 1"/>
          <p:cNvSpPr/>
          <p:nvPr/>
        </p:nvSpPr>
        <p:spPr>
          <a:xfrm>
            <a:off x="990600" y="2095500"/>
            <a:ext cx="654427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</a:t>
            </a:r>
            <a:endParaRPr lang="en-US" sz="1350" dirty="0"/>
          </a:p>
        </p:txBody>
      </p:sp>
      <p:sp>
        <p:nvSpPr>
          <p:cNvPr id="32" name="Text 2"/>
          <p:cNvSpPr/>
          <p:nvPr/>
        </p:nvSpPr>
        <p:spPr>
          <a:xfrm>
            <a:off x="7992070" y="2095500"/>
            <a:ext cx="3209330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</a:t>
            </a:r>
            <a:endParaRPr lang="en-US" sz="1350" dirty="0"/>
          </a:p>
        </p:txBody>
      </p:sp>
      <p:sp>
        <p:nvSpPr>
          <p:cNvPr id="33" name="Text 3"/>
          <p:cNvSpPr/>
          <p:nvPr/>
        </p:nvSpPr>
        <p:spPr>
          <a:xfrm>
            <a:off x="990600" y="2647950"/>
            <a:ext cx="654427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AWS Athena Data Pipeline</a:t>
            </a:r>
            <a:endParaRPr lang="en-US" sz="1350" dirty="0"/>
          </a:p>
        </p:txBody>
      </p:sp>
      <p:sp>
        <p:nvSpPr>
          <p:cNvPr id="34" name="Text 4"/>
          <p:cNvSpPr/>
          <p:nvPr/>
        </p:nvSpPr>
        <p:spPr>
          <a:xfrm>
            <a:off x="8163520" y="2647950"/>
            <a:ext cx="320933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Complete</a:t>
            </a:r>
            <a:endParaRPr lang="en-US" sz="1350" dirty="0"/>
          </a:p>
        </p:txBody>
      </p:sp>
      <p:sp>
        <p:nvSpPr>
          <p:cNvPr id="35" name="Text 5"/>
          <p:cNvSpPr/>
          <p:nvPr/>
        </p:nvSpPr>
        <p:spPr>
          <a:xfrm>
            <a:off x="990600" y="3181350"/>
            <a:ext cx="654427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Table Analysis &amp; Cleaning</a:t>
            </a:r>
            <a:endParaRPr lang="en-US" sz="1350" dirty="0"/>
          </a:p>
        </p:txBody>
      </p:sp>
      <p:sp>
        <p:nvSpPr>
          <p:cNvPr id="36" name="Text 6"/>
          <p:cNvSpPr/>
          <p:nvPr/>
        </p:nvSpPr>
        <p:spPr>
          <a:xfrm>
            <a:off x="8163520" y="3181350"/>
            <a:ext cx="320933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Complete</a:t>
            </a:r>
            <a:endParaRPr lang="en-US" sz="1350" dirty="0"/>
          </a:p>
        </p:txBody>
      </p:sp>
      <p:sp>
        <p:nvSpPr>
          <p:cNvPr id="37" name="Text 7"/>
          <p:cNvSpPr/>
          <p:nvPr/>
        </p:nvSpPr>
        <p:spPr>
          <a:xfrm>
            <a:off x="990600" y="3714750"/>
            <a:ext cx="654427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Churn Prediction Model (v2)</a:t>
            </a:r>
            <a:endParaRPr lang="en-US" sz="1350" dirty="0"/>
          </a:p>
        </p:txBody>
      </p:sp>
      <p:sp>
        <p:nvSpPr>
          <p:cNvPr id="38" name="Text 8"/>
          <p:cNvSpPr/>
          <p:nvPr/>
        </p:nvSpPr>
        <p:spPr>
          <a:xfrm>
            <a:off x="8163520" y="3714750"/>
            <a:ext cx="320933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Complete</a:t>
            </a:r>
            <a:endParaRPr lang="en-US" sz="1350" dirty="0"/>
          </a:p>
        </p:txBody>
      </p:sp>
      <p:sp>
        <p:nvSpPr>
          <p:cNvPr id="39" name="Text 9"/>
          <p:cNvSpPr/>
          <p:nvPr/>
        </p:nvSpPr>
        <p:spPr>
          <a:xfrm>
            <a:off x="990600" y="4248150"/>
            <a:ext cx="654427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RFM User Segmentation</a:t>
            </a:r>
            <a:endParaRPr lang="en-US" sz="1350" dirty="0"/>
          </a:p>
        </p:txBody>
      </p:sp>
      <p:sp>
        <p:nvSpPr>
          <p:cNvPr id="40" name="Text 10"/>
          <p:cNvSpPr/>
          <p:nvPr/>
        </p:nvSpPr>
        <p:spPr>
          <a:xfrm>
            <a:off x="8163520" y="4248150"/>
            <a:ext cx="320933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Complete</a:t>
            </a:r>
            <a:endParaRPr lang="en-US" sz="1350" dirty="0"/>
          </a:p>
        </p:txBody>
      </p:sp>
      <p:sp>
        <p:nvSpPr>
          <p:cNvPr id="41" name="Text 11"/>
          <p:cNvSpPr/>
          <p:nvPr/>
        </p:nvSpPr>
        <p:spPr>
          <a:xfrm>
            <a:off x="990600" y="4781550"/>
            <a:ext cx="654427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Engagement Analysis Notebook</a:t>
            </a:r>
            <a:endParaRPr lang="en-US" sz="1350" dirty="0"/>
          </a:p>
        </p:txBody>
      </p:sp>
      <p:sp>
        <p:nvSpPr>
          <p:cNvPr id="42" name="Text 12"/>
          <p:cNvSpPr/>
          <p:nvPr/>
        </p:nvSpPr>
        <p:spPr>
          <a:xfrm>
            <a:off x="8163520" y="4781550"/>
            <a:ext cx="320933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Progress</a:t>
            </a:r>
            <a:endParaRPr lang="en-US" sz="1350" dirty="0"/>
          </a:p>
        </p:txBody>
      </p:sp>
      <p:sp>
        <p:nvSpPr>
          <p:cNvPr id="43" name="Text 13"/>
          <p:cNvSpPr/>
          <p:nvPr/>
        </p:nvSpPr>
        <p:spPr>
          <a:xfrm>
            <a:off x="990600" y="5314950"/>
            <a:ext cx="654427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Production ML Models</a:t>
            </a:r>
            <a:endParaRPr lang="en-US" sz="1350" dirty="0"/>
          </a:p>
        </p:txBody>
      </p:sp>
      <p:sp>
        <p:nvSpPr>
          <p:cNvPr id="44" name="Text 14"/>
          <p:cNvSpPr/>
          <p:nvPr/>
        </p:nvSpPr>
        <p:spPr>
          <a:xfrm>
            <a:off x="8163520" y="5314950"/>
            <a:ext cx="320933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Progress</a:t>
            </a:r>
            <a:endParaRPr lang="en-US" sz="1350" dirty="0"/>
          </a:p>
        </p:txBody>
      </p:sp>
      <p:sp>
        <p:nvSpPr>
          <p:cNvPr id="45" name="Text 15"/>
          <p:cNvSpPr/>
          <p:nvPr/>
        </p:nvSpPr>
        <p:spPr>
          <a:xfrm>
            <a:off x="990600" y="5848350"/>
            <a:ext cx="654427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UI (Flask)</a:t>
            </a:r>
            <a:endParaRPr lang="en-US" sz="1350" dirty="0"/>
          </a:p>
        </p:txBody>
      </p:sp>
      <p:sp>
        <p:nvSpPr>
          <p:cNvPr id="46" name="Text 16"/>
          <p:cNvSpPr/>
          <p:nvPr/>
        </p:nvSpPr>
        <p:spPr>
          <a:xfrm>
            <a:off x="8163520" y="5848350"/>
            <a:ext cx="320933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Progress</a:t>
            </a:r>
            <a:endParaRPr lang="en-US" sz="1350" dirty="0"/>
          </a:p>
        </p:txBody>
      </p:sp>
      <p:sp>
        <p:nvSpPr>
          <p:cNvPr id="47" name="Text 17"/>
          <p:cNvSpPr/>
          <p:nvPr/>
        </p:nvSpPr>
        <p:spPr>
          <a:xfrm>
            <a:off x="952500" y="6858000"/>
            <a:ext cx="2487168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Remaining Milestones:</a:t>
            </a:r>
            <a:r>
              <a:rPr lang="en-US" sz="120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Complete cross-table analysis → finalize production models → connect dashboard to live data → client presentation.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1019</Words>
  <Application>Microsoft Office PowerPoint</Application>
  <PresentationFormat>Widescreen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Sourav Singh</cp:lastModifiedBy>
  <cp:revision>7</cp:revision>
  <dcterms:created xsi:type="dcterms:W3CDTF">2026-03-09T19:33:58Z</dcterms:created>
  <dcterms:modified xsi:type="dcterms:W3CDTF">2026-03-09T20:53:38Z</dcterms:modified>
</cp:coreProperties>
</file>