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embeddedFontLst>
    <p:embeddedFont>
      <p:font typeface="Montserrat" panose="00000500000000000000" pitchFamily="2" charset="0"/>
      <p:regular r:id="rId14"/>
      <p:bold r:id="rId15"/>
    </p:embeddedFont>
    <p:embeddedFont>
      <p:font typeface="Urbanist" panose="020B0604020202020204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564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8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8.pn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8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9.png"/><Relationship Id="rId10" Type="http://schemas.openxmlformats.org/officeDocument/2006/relationships/image" Target="../media/image77.png"/><Relationship Id="rId4" Type="http://schemas.openxmlformats.org/officeDocument/2006/relationships/image" Target="../media/image8.png"/><Relationship Id="rId9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.png"/><Relationship Id="rId9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62000"/>
            <a:ext cx="11049000" cy="571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602236"/>
            <a:ext cx="9906000" cy="42669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078462"/>
            <a:ext cx="1095375" cy="2571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3625" y="5078462"/>
            <a:ext cx="1123950" cy="2571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2825" y="5078462"/>
            <a:ext cx="914400" cy="2571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143000" y="1903214"/>
            <a:ext cx="7620000" cy="15085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940"/>
              </a:lnSpc>
              <a:buNone/>
            </a:pPr>
            <a:r>
              <a:rPr lang="en-US" sz="5400" b="1" kern="0" spc="-86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Halight </a:t>
            </a:r>
            <a:r>
              <a:rPr lang="en-US" sz="5400" b="1" kern="0" spc="-86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Performance</a:t>
            </a:r>
            <a:r>
              <a:rPr lang="en-US" sz="5400" b="1" kern="0" spc="-86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
Intelligence Dashboard</a:t>
            </a:r>
            <a:endParaRPr lang="en-US" sz="5400" dirty="0"/>
          </a:p>
        </p:txBody>
      </p:sp>
      <p:sp>
        <p:nvSpPr>
          <p:cNvPr id="10" name="Text 1"/>
          <p:cNvSpPr/>
          <p:nvPr/>
        </p:nvSpPr>
        <p:spPr>
          <a:xfrm>
            <a:off x="1333500" y="3602236"/>
            <a:ext cx="10858500" cy="4266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Transforming Learning Data into Actionable Insights</a:t>
            </a:r>
            <a:endParaRPr lang="en-US" sz="2100" dirty="0"/>
          </a:p>
        </p:txBody>
      </p:sp>
      <p:sp>
        <p:nvSpPr>
          <p:cNvPr id="11" name="Text 2"/>
          <p:cNvSpPr/>
          <p:nvPr/>
        </p:nvSpPr>
        <p:spPr>
          <a:xfrm>
            <a:off x="1143000" y="4409926"/>
            <a:ext cx="11049000" cy="3351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334155">
                    <a:alpha val="80000"/>
                  </a:srgbClr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Group 8: Aum, Sakshi, Souravdeep, Faiyaz, Priyanka</a:t>
            </a:r>
            <a:endParaRPr lang="en-US" sz="1650" dirty="0"/>
          </a:p>
        </p:txBody>
      </p:sp>
      <p:sp>
        <p:nvSpPr>
          <p:cNvPr id="12" name="Text 3"/>
          <p:cNvSpPr/>
          <p:nvPr/>
        </p:nvSpPr>
        <p:spPr>
          <a:xfrm>
            <a:off x="1285875" y="5078462"/>
            <a:ext cx="141930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13" name="Text 4"/>
          <p:cNvSpPr/>
          <p:nvPr/>
        </p:nvSpPr>
        <p:spPr>
          <a:xfrm>
            <a:off x="2476500" y="5078462"/>
            <a:ext cx="1670717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Data Integrity</a:t>
            </a:r>
            <a:endParaRPr lang="en-US" sz="1050" dirty="0"/>
          </a:p>
        </p:txBody>
      </p:sp>
      <p:sp>
        <p:nvSpPr>
          <p:cNvPr id="14" name="Text 5"/>
          <p:cNvSpPr/>
          <p:nvPr/>
        </p:nvSpPr>
        <p:spPr>
          <a:xfrm>
            <a:off x="3695700" y="5078462"/>
            <a:ext cx="1210151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62000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52017"/>
            <a:ext cx="5286375" cy="2628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1852017"/>
            <a:ext cx="5286375" cy="2628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6667"/>
            <a:ext cx="3555950" cy="155361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950" y="4766667"/>
            <a:ext cx="3555950" cy="155361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4401" y="4766667"/>
            <a:ext cx="3556099" cy="1553617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762000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Challenge: Proactive Intelligence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952500" y="2233017"/>
            <a:ext cx="4524375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8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952500" y="2737842"/>
            <a:ext cx="4524375" cy="12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Disconnected data silos make it difficult to identify at-risk learners and understand true content performance across the platform, leading to reactive instead of proactive management.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6715125" y="2233017"/>
            <a:ext cx="4524375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8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14" name="Text 4"/>
          <p:cNvSpPr/>
          <p:nvPr/>
        </p:nvSpPr>
        <p:spPr>
          <a:xfrm>
            <a:off x="6715125" y="2737842"/>
            <a:ext cx="4524375" cy="12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 end-to-end data pipeline feeding a Flask dashboard, powered by predictive machine learning and LLM-driven recommendations to centralize intelligence and drive learner success.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762000" y="5185172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6" name="Text 6"/>
          <p:cNvSpPr/>
          <p:nvPr/>
        </p:nvSpPr>
        <p:spPr>
          <a:xfrm>
            <a:off x="762000" y="5489972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Centralizing data silos reduces operational overhead and enables a 360-degree view of learner health, improving retention rates.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4508450" y="5185172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4508450" y="5489972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Break down organizational silos to foster a data-driven culture across all departments for unified decision-making.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8254901" y="5185172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0" name="Text 10"/>
          <p:cNvSpPr/>
          <p:nvPr/>
        </p:nvSpPr>
        <p:spPr>
          <a:xfrm>
            <a:off x="8254901" y="5489972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Transparency &amp; Data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8166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90291"/>
            <a:ext cx="17145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842766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95241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1261616"/>
            <a:ext cx="5286375" cy="3810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1261616"/>
            <a:ext cx="5286375" cy="3810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357366"/>
            <a:ext cx="3555950" cy="155361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5357366"/>
            <a:ext cx="3555950" cy="155361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4401" y="5357366"/>
            <a:ext cx="3556099" cy="1553617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62000" y="328166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Robust Infrastructure &amp; Pipeline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571500" y="1261616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Seamless integration orchestrated via </a:t>
            </a: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AWS Athena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with local Parquet caching to eliminate latency and optimize costs.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838200" y="2061716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Cost Efficiency: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Local Parquet caching reduces AWS Athena query costs by up to 70%.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857250" y="2814191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Performance: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Python pipeline (awswrangler/boto3) ensures sub-second dashboard response.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857250" y="3566666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Scalability: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Decoupled architecture allows for seamless ML model updates and scaling.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762000" y="5775871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9" name="Text 6"/>
          <p:cNvSpPr/>
          <p:nvPr/>
        </p:nvSpPr>
        <p:spPr>
          <a:xfrm>
            <a:off x="762000" y="6080671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Significant reduction in cloud infrastructure spend while providing real-time insights for faster decision-making.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4508450" y="5775871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4508450" y="6080671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 automated data validation at the ingestion layer to ensure downstream model reliability and accuracy.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8254901" y="5775871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8254901" y="6080671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 &amp; 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10046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43496"/>
            <a:ext cx="11049000" cy="324609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733996"/>
            <a:ext cx="1493639" cy="80769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5639" y="1733996"/>
            <a:ext cx="3128665" cy="80769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4304" y="1733996"/>
            <a:ext cx="6045696" cy="80769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541687"/>
            <a:ext cx="1493639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5639" y="2541687"/>
            <a:ext cx="3128665" cy="685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4304" y="2541687"/>
            <a:ext cx="6045696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227487"/>
            <a:ext cx="1493639" cy="685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5639" y="3227487"/>
            <a:ext cx="3128665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4304" y="3227487"/>
            <a:ext cx="6045696" cy="685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075337"/>
            <a:ext cx="3555950" cy="155361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17950" y="5075337"/>
            <a:ext cx="3555950" cy="155361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64401" y="5075337"/>
            <a:ext cx="3556099" cy="1553617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0" y="610046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Refining Data for High-Fidelity Insights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952500" y="1733996"/>
            <a:ext cx="1668826" cy="8076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Process</a:t>
            </a:r>
            <a:endParaRPr lang="en-US" sz="2100" dirty="0"/>
          </a:p>
        </p:txBody>
      </p:sp>
      <p:sp>
        <p:nvSpPr>
          <p:cNvPr id="20" name="Text 2"/>
          <p:cNvSpPr/>
          <p:nvPr/>
        </p:nvSpPr>
        <p:spPr>
          <a:xfrm>
            <a:off x="2446139" y="1733996"/>
            <a:ext cx="3091731" cy="8076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Methodology</a:t>
            </a:r>
            <a:endParaRPr lang="en-US" sz="2100" dirty="0"/>
          </a:p>
        </p:txBody>
      </p:sp>
      <p:sp>
        <p:nvSpPr>
          <p:cNvPr id="21" name="Text 3"/>
          <p:cNvSpPr/>
          <p:nvPr/>
        </p:nvSpPr>
        <p:spPr>
          <a:xfrm>
            <a:off x="5574804" y="1733996"/>
            <a:ext cx="5664696" cy="8076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Impact</a:t>
            </a:r>
            <a:endParaRPr lang="en-US" sz="2100" dirty="0"/>
          </a:p>
        </p:txBody>
      </p:sp>
      <p:sp>
        <p:nvSpPr>
          <p:cNvPr id="22" name="Text 4"/>
          <p:cNvSpPr/>
          <p:nvPr/>
        </p:nvSpPr>
        <p:spPr>
          <a:xfrm>
            <a:off x="952500" y="2770287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Cleaning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2446139" y="2541687"/>
            <a:ext cx="575517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Log1p &amp; Spearman Correlation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5574804" y="2541687"/>
            <a:ext cx="66171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Handled outliers and skewed distributions for robust modeling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952500" y="3456087"/>
            <a:ext cx="251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2446139" y="3227487"/>
            <a:ext cx="42159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li_attempts Deep-Dive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5574804" y="3227487"/>
            <a:ext cx="66171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Captured active days, completion rates, and granular scores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952500" y="4141887"/>
            <a:ext cx="2057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Weighting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2446139" y="3913287"/>
            <a:ext cx="274766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PCA Loadings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5574804" y="3913287"/>
            <a:ext cx="66171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Statistically justified engagement metrics for unbiased analysis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762000" y="5493841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32" name="Text 14"/>
          <p:cNvSpPr/>
          <p:nvPr/>
        </p:nvSpPr>
        <p:spPr>
          <a:xfrm>
            <a:off x="762000" y="5798641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Statistically justified metrics (PCA) ensure that interventions are based on true engagement, not noise, reducing false alarms.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4508450" y="5493841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34" name="Text 16"/>
          <p:cNvSpPr/>
          <p:nvPr/>
        </p:nvSpPr>
        <p:spPr>
          <a:xfrm>
            <a:off x="4508450" y="5798641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Periodically re-calibrate engagement weights to adapt to changing platform features and evolving user behaviors.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8254901" y="5493841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36" name="Text 18"/>
          <p:cNvSpPr/>
          <p:nvPr/>
        </p:nvSpPr>
        <p:spPr>
          <a:xfrm>
            <a:off x="8254901" y="5798641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Precision &amp; Data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0"/>
            <a:ext cx="11049000" cy="47104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852041"/>
            <a:ext cx="8572500" cy="13049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0" y="1042541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9750" y="2395091"/>
            <a:ext cx="8572500" cy="13049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250" y="2585591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9750" y="3938141"/>
            <a:ext cx="8572500" cy="13049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1250" y="4128641"/>
            <a:ext cx="25717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703441"/>
            <a:ext cx="3555950" cy="155361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7950" y="5703441"/>
            <a:ext cx="3555950" cy="155361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4401" y="5703441"/>
            <a:ext cx="3556099" cy="1553617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62000" y="20191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Proactive Churn Prediction (XGBoost)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2609850" y="852041"/>
            <a:ext cx="7810500" cy="1304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Optimized XGBoost Classifier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
High-accuracy model deployed to identify at-risk learners before they drop out, enabling early intervention.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2609850" y="2395091"/>
            <a:ext cx="7810500" cy="1304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Leakage Elimination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
Removed 'days_since_last_login' to ensure realistic and robust model performance in real-world scenarios.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2638425" y="3938141"/>
            <a:ext cx="7810500" cy="1304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Explainable AI (SHAP)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
Integrated SHAP values to provide transparent, per-user churn risk drivers, building trust with non-technical managers.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762000" y="5855246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9" name="Text 5"/>
          <p:cNvSpPr/>
          <p:nvPr/>
        </p:nvSpPr>
        <p:spPr>
          <a:xfrm>
            <a:off x="762000" y="6160046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SHAP values translate complex ML outputs into human-readable drivers, building executive trust and enabling targeted action.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4508450" y="5855246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4508450" y="6160046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Deploy automated alerts for high-risk segments to trigger immediate human-led intervention and personalized support.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8254901" y="5855246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3" name="Text 9"/>
          <p:cNvSpPr/>
          <p:nvPr/>
        </p:nvSpPr>
        <p:spPr>
          <a:xfrm>
            <a:off x="8254901" y="6160046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Transparency &amp; Accountability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6763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30213"/>
            <a:ext cx="5334000" cy="365938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373088"/>
            <a:ext cx="5048250" cy="2095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230213"/>
            <a:ext cx="5334000" cy="365938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373088"/>
            <a:ext cx="5048250" cy="2095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175349"/>
            <a:ext cx="3555950" cy="176688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950" y="5175349"/>
            <a:ext cx="3555950" cy="176688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4401" y="5175349"/>
            <a:ext cx="3556099" cy="1766888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62000" y="296763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Understanding Users &amp; Growth</a:t>
            </a:r>
            <a:endParaRPr lang="en-US" sz="3600" dirty="0"/>
          </a:p>
        </p:txBody>
      </p:sp>
      <p:sp>
        <p:nvSpPr>
          <p:cNvPr id="13" name="Text 1"/>
          <p:cNvSpPr/>
          <p:nvPr/>
        </p:nvSpPr>
        <p:spPr>
          <a:xfrm>
            <a:off x="714375" y="3611463"/>
            <a:ext cx="5048250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RFM Segmentation</a:t>
            </a:r>
            <a:endParaRPr lang="en-US" sz="2400" dirty="0"/>
          </a:p>
        </p:txBody>
      </p:sp>
      <p:sp>
        <p:nvSpPr>
          <p:cNvPr id="14" name="Text 2"/>
          <p:cNvSpPr/>
          <p:nvPr/>
        </p:nvSpPr>
        <p:spPr>
          <a:xfrm>
            <a:off x="714375" y="4116288"/>
            <a:ext cx="504825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Robust clustering mapping users into Power, Casual, and Inactive tiers for targeted engagement.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6429375" y="3611463"/>
            <a:ext cx="5048250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Growth Forecasting</a:t>
            </a:r>
            <a:endParaRPr lang="en-US" sz="2400" dirty="0"/>
          </a:p>
        </p:txBody>
      </p:sp>
      <p:sp>
        <p:nvSpPr>
          <p:cNvPr id="16" name="Text 4"/>
          <p:cNvSpPr/>
          <p:nvPr/>
        </p:nvSpPr>
        <p:spPr>
          <a:xfrm>
            <a:off x="6429375" y="4116288"/>
            <a:ext cx="504825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Utilizing Prophet to project engagement and user growth for the next 30 days with high confidence.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762000" y="5593854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762000" y="5898654"/>
            <a:ext cx="3174950" cy="8530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RFM segmentation optimizes marketing ROI by focusing retention spend on high-LTV "Power" users and identifying growth opportunities.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4508450" y="5593854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4508450" y="5898654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Develop tailored content tracks for "Casual" users to migrate them into the "Power" tier through personalized learning paths.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8254901" y="5593854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8254901" y="5898654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Customer-Centricity &amp; Growth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62000"/>
            <a:ext cx="5286375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33875"/>
            <a:ext cx="5286375" cy="134034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763121"/>
            <a:ext cx="5286375" cy="134034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190500"/>
            <a:ext cx="5857875" cy="68580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762000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Interactive Intelligence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571500" y="1695450"/>
            <a:ext cx="52863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Flask Dashboard Demo</a:t>
            </a:r>
            <a:endParaRPr lang="en-US" sz="1500" dirty="0"/>
          </a:p>
        </p:txBody>
      </p:sp>
      <p:sp>
        <p:nvSpPr>
          <p:cNvPr id="10" name="Text 2"/>
          <p:cNvSpPr/>
          <p:nvPr/>
        </p:nvSpPr>
        <p:spPr>
          <a:xfrm>
            <a:off x="571500" y="2143125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Real-time monitoring of Monthly Growth Metrics and Churn Risk Overviews for immediate operational awareness.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571500" y="3086100"/>
            <a:ext cx="5286375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Marketing Action Board: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Integrated LLM-based recommendations providing data-backed strategies for non-technical stakeholders.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762000" y="4752380"/>
            <a:ext cx="4905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762000" y="5057180"/>
            <a:ext cx="490537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Real-time Flask dashboards empower non-technical stakeholders to make data-backed decisions instantly, reducing time-to-action.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762000" y="6181626"/>
            <a:ext cx="4905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762000" y="6397526"/>
            <a:ext cx="490537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Integrate LLM-driven marketing recommendations directly into existing communication workflows (e.g., Slack/Email).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09141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42591"/>
            <a:ext cx="3429000" cy="3448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728341"/>
            <a:ext cx="76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1880741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0" y="1442591"/>
            <a:ext cx="3429000" cy="3448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0" y="1728341"/>
            <a:ext cx="7620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7400" y="1880741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0" y="1442591"/>
            <a:ext cx="3429000" cy="3448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1728341"/>
            <a:ext cx="7620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34550" y="1880741"/>
            <a:ext cx="3429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176391"/>
            <a:ext cx="3555950" cy="155361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7950" y="5176391"/>
            <a:ext cx="3555950" cy="155361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4401" y="5176391"/>
            <a:ext cx="3556099" cy="1553617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762000" y="509141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Translating Models into Value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1040606" y="2680841"/>
            <a:ext cx="2490639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Retention Tracking</a:t>
            </a:r>
            <a:endParaRPr lang="en-US" sz="2400" dirty="0"/>
          </a:p>
        </p:txBody>
      </p:sp>
      <p:sp>
        <p:nvSpPr>
          <p:cNvPr id="19" name="Text 2"/>
          <p:cNvSpPr/>
          <p:nvPr/>
        </p:nvSpPr>
        <p:spPr>
          <a:xfrm>
            <a:off x="857250" y="3185666"/>
            <a:ext cx="2857500" cy="12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Cohort analysis identifies drop-off points for targeted re-engagement, optimizing marketing spend.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4801344" y="2680841"/>
            <a:ext cx="2589312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Resource Allocation</a:t>
            </a:r>
            <a:endParaRPr lang="en-US" sz="2400" dirty="0"/>
          </a:p>
        </p:txBody>
      </p:sp>
      <p:sp>
        <p:nvSpPr>
          <p:cNvPr id="21" name="Text 4"/>
          <p:cNvSpPr/>
          <p:nvPr/>
        </p:nvSpPr>
        <p:spPr>
          <a:xfrm>
            <a:off x="4667250" y="3185666"/>
            <a:ext cx="28575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Prioritize UI and content fixes based on SHAP-identified churn drivers to maximize impact.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8477250" y="2680841"/>
            <a:ext cx="28575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Actionable Marketing</a:t>
            </a:r>
            <a:endParaRPr lang="en-US" sz="2400" dirty="0"/>
          </a:p>
        </p:txBody>
      </p:sp>
      <p:sp>
        <p:nvSpPr>
          <p:cNvPr id="23" name="Text 6"/>
          <p:cNvSpPr/>
          <p:nvPr/>
        </p:nvSpPr>
        <p:spPr>
          <a:xfrm>
            <a:off x="8477250" y="3547616"/>
            <a:ext cx="28575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LLM integration provides instant, readable marketing strategies for rapid execution.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762000" y="5594896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762000" y="5899696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Cohort analysis quantifies the impact of product updates on retention, enabling a 20% optimization in marketing spend.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4508450" y="5594896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4508450" y="5899696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Use SHAP-identified churn drivers to prioritize the product engineering roadmap for maximum user retention.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8254901" y="5594896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9" name="Text 12"/>
          <p:cNvSpPr/>
          <p:nvPr/>
        </p:nvSpPr>
        <p:spPr>
          <a:xfrm>
            <a:off x="8254901" y="5899696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ROI-Driven &amp; Strategic Alignment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62000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66442"/>
            <a:ext cx="11049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75" y="3008709"/>
            <a:ext cx="2541240" cy="14361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9010" y="1765151"/>
            <a:ext cx="2541240" cy="119241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3340" y="3023592"/>
            <a:ext cx="2541240" cy="119241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9260" y="1754981"/>
            <a:ext cx="2541240" cy="119241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293592"/>
            <a:ext cx="3555950" cy="155361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4293592"/>
            <a:ext cx="3555950" cy="155361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4401" y="4293592"/>
            <a:ext cx="3556099" cy="1553617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62000" y="762000"/>
            <a:ext cx="108585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Looking Ahead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714375" y="3166467"/>
            <a:ext cx="2255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4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Real-Time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714375" y="3442692"/>
            <a:ext cx="225549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Transition to AWS Kinesis streaming for instant data processing.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3550295" y="1974056"/>
            <a:ext cx="2255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4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Personalization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3550295" y="2250281"/>
            <a:ext cx="225549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Collaborative filtering engine for hyper-personalized learning.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6386215" y="3166467"/>
            <a:ext cx="2255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4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A/B Testing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6386215" y="3442692"/>
            <a:ext cx="225549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Direct dashboard integration for rapid feature validation.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9222135" y="1974056"/>
            <a:ext cx="2255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4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Scale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9222135" y="2250281"/>
            <a:ext cx="225549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Global multi-region deployment for low-latency access.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762000" y="4394597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762000" y="4699397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Transitioning to real-time streaming and personalization future-proofs the platform for global scale and hyper-engagement.</a:t>
            </a:r>
            <a:endParaRPr lang="en-US" sz="1200" dirty="0"/>
          </a:p>
        </p:txBody>
      </p:sp>
      <p:sp>
        <p:nvSpPr>
          <p:cNvPr id="24" name="Text 11"/>
          <p:cNvSpPr/>
          <p:nvPr/>
        </p:nvSpPr>
        <p:spPr>
          <a:xfrm>
            <a:off x="4508450" y="4394597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5" name="Text 12"/>
          <p:cNvSpPr/>
          <p:nvPr/>
        </p:nvSpPr>
        <p:spPr>
          <a:xfrm>
            <a:off x="4508450" y="4699397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Prioritize the collaborative filtering engine to drive organic user engagement and platform stickiness.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8254901" y="4394597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7" name="Text 14"/>
          <p:cNvSpPr/>
          <p:nvPr/>
        </p:nvSpPr>
        <p:spPr>
          <a:xfrm>
            <a:off x="8254901" y="4699397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 &amp; Continuous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5CCDE-C708-FDAA-4AE2-B9F4F832A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64" y="846666"/>
            <a:ext cx="8570871" cy="55710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CF3A9D-D5B7-32E7-D123-9EF8BD8DE77F}"/>
              </a:ext>
            </a:extLst>
          </p:cNvPr>
          <p:cNvSpPr txBox="1"/>
          <p:nvPr/>
        </p:nvSpPr>
        <p:spPr>
          <a:xfrm>
            <a:off x="1810564" y="440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Preview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0573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4048125"/>
            <a:ext cx="20002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013" y="4905375"/>
            <a:ext cx="1095375" cy="2571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0638" y="4905375"/>
            <a:ext cx="1123950" cy="2571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9838" y="4905375"/>
            <a:ext cx="914400" cy="2571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9488" y="4905375"/>
            <a:ext cx="952500" cy="2571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919537" y="2076450"/>
            <a:ext cx="8272463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7500" b="1" kern="0" spc="-120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10" name="Text 1"/>
          <p:cNvSpPr/>
          <p:nvPr/>
        </p:nvSpPr>
        <p:spPr>
          <a:xfrm>
            <a:off x="3643313" y="3219450"/>
            <a:ext cx="85486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Driving strategic growth through performance intelligence.</a:t>
            </a:r>
            <a:endParaRPr lang="en-US" sz="1500" dirty="0"/>
          </a:p>
        </p:txBody>
      </p:sp>
      <p:sp>
        <p:nvSpPr>
          <p:cNvPr id="11" name="Text 2"/>
          <p:cNvSpPr/>
          <p:nvPr/>
        </p:nvSpPr>
        <p:spPr>
          <a:xfrm>
            <a:off x="4843463" y="4048125"/>
            <a:ext cx="7348538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Group 8 Project Repository</a:t>
            </a:r>
            <a:endParaRPr lang="en-US" sz="1800" dirty="0"/>
          </a:p>
        </p:txBody>
      </p:sp>
      <p:sp>
        <p:nvSpPr>
          <p:cNvPr id="12" name="Text 3"/>
          <p:cNvSpPr/>
          <p:nvPr/>
        </p:nvSpPr>
        <p:spPr>
          <a:xfrm>
            <a:off x="4052888" y="4905375"/>
            <a:ext cx="141930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13" name="Text 4"/>
          <p:cNvSpPr/>
          <p:nvPr/>
        </p:nvSpPr>
        <p:spPr>
          <a:xfrm>
            <a:off x="5243513" y="4905375"/>
            <a:ext cx="1670717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Data Integrity</a:t>
            </a:r>
            <a:endParaRPr lang="en-US" sz="1050" dirty="0"/>
          </a:p>
        </p:txBody>
      </p:sp>
      <p:sp>
        <p:nvSpPr>
          <p:cNvPr id="14" name="Text 5"/>
          <p:cNvSpPr/>
          <p:nvPr/>
        </p:nvSpPr>
        <p:spPr>
          <a:xfrm>
            <a:off x="6462713" y="4905375"/>
            <a:ext cx="1210151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15" name="Text 6"/>
          <p:cNvSpPr/>
          <p:nvPr/>
        </p:nvSpPr>
        <p:spPr>
          <a:xfrm>
            <a:off x="7472363" y="4905375"/>
            <a:ext cx="112014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ROI-Driven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811</Words>
  <Application>Microsoft Office PowerPoint</Application>
  <PresentationFormat>Widescreen</PresentationFormat>
  <Paragraphs>122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Urbanist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Aum Bimalbhai Gajjar</cp:lastModifiedBy>
  <cp:revision>7</cp:revision>
  <dcterms:created xsi:type="dcterms:W3CDTF">2026-04-06T19:21:26Z</dcterms:created>
  <dcterms:modified xsi:type="dcterms:W3CDTF">2026-04-06T20:16:30Z</dcterms:modified>
</cp:coreProperties>
</file>