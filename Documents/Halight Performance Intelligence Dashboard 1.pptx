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12192000"/>
  <p:embeddedFontLst>
    <p:embeddedFont>
      <p:font typeface="Montserrat" panose="00000500000000000000" pitchFamily="2" charset="0"/>
      <p:regular r:id="rId14"/>
      <p:bold r:id="rId15"/>
    </p:embeddedFont>
    <p:embeddedFont>
      <p:font typeface="Urbanist" panose="020B0604020202020204" charset="0"/>
      <p:regular r:id="rId16"/>
      <p:bold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3564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8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8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8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1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8.png"/><Relationship Id="rId9" Type="http://schemas.openxmlformats.org/officeDocument/2006/relationships/image" Target="../media/image5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1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1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10" Type="http://schemas.openxmlformats.org/officeDocument/2006/relationships/image" Target="../media/image65.png"/><Relationship Id="rId4" Type="http://schemas.openxmlformats.org/officeDocument/2006/relationships/image" Target="../media/image8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3" Type="http://schemas.openxmlformats.org/officeDocument/2006/relationships/image" Target="../media/image1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9.png"/><Relationship Id="rId10" Type="http://schemas.openxmlformats.org/officeDocument/2006/relationships/image" Target="../media/image77.png"/><Relationship Id="rId4" Type="http://schemas.openxmlformats.org/officeDocument/2006/relationships/image" Target="../media/image8.png"/><Relationship Id="rId9" Type="http://schemas.openxmlformats.org/officeDocument/2006/relationships/image" Target="../media/image7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1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.png"/><Relationship Id="rId9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05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762000"/>
            <a:ext cx="11049000" cy="5715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602236"/>
            <a:ext cx="9906000" cy="42669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5078462"/>
            <a:ext cx="1095375" cy="2571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3625" y="5078462"/>
            <a:ext cx="1123950" cy="2571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52825" y="5078462"/>
            <a:ext cx="914400" cy="257175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1143000" y="1903214"/>
            <a:ext cx="7620000" cy="15085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940"/>
              </a:lnSpc>
              <a:buNone/>
            </a:pPr>
            <a:r>
              <a:rPr lang="en-US" sz="5400" b="1" kern="0" spc="-86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Halight </a:t>
            </a:r>
            <a:r>
              <a:rPr lang="en-US" sz="5400" b="1" kern="0" spc="-86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Performance</a:t>
            </a:r>
            <a:r>
              <a:rPr lang="en-US" sz="5400" b="1" kern="0" spc="-86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
Intelligence Dashboard</a:t>
            </a:r>
            <a:endParaRPr lang="en-US" sz="5400" dirty="0"/>
          </a:p>
        </p:txBody>
      </p:sp>
      <p:sp>
        <p:nvSpPr>
          <p:cNvPr id="10" name="Text 1"/>
          <p:cNvSpPr/>
          <p:nvPr/>
        </p:nvSpPr>
        <p:spPr>
          <a:xfrm>
            <a:off x="1333500" y="3602236"/>
            <a:ext cx="10858500" cy="4266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100" dirty="0">
                <a:solidFill>
                  <a:srgbClr val="47556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Transforming Learning Data into Actionable Insights</a:t>
            </a:r>
            <a:endParaRPr lang="en-US" sz="2100" dirty="0"/>
          </a:p>
        </p:txBody>
      </p:sp>
      <p:sp>
        <p:nvSpPr>
          <p:cNvPr id="11" name="Text 2"/>
          <p:cNvSpPr/>
          <p:nvPr/>
        </p:nvSpPr>
        <p:spPr>
          <a:xfrm>
            <a:off x="1143000" y="4409926"/>
            <a:ext cx="11049000" cy="3351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1650" dirty="0">
                <a:solidFill>
                  <a:srgbClr val="334155">
                    <a:alpha val="80000"/>
                  </a:srgbClr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Group 8: Aum, Sakshi, Souravdeep, Faiyaz, Priyanka</a:t>
            </a:r>
            <a:endParaRPr lang="en-US" sz="1650" dirty="0"/>
          </a:p>
        </p:txBody>
      </p:sp>
      <p:sp>
        <p:nvSpPr>
          <p:cNvPr id="12" name="Text 3"/>
          <p:cNvSpPr/>
          <p:nvPr/>
        </p:nvSpPr>
        <p:spPr>
          <a:xfrm>
            <a:off x="1285875" y="5078462"/>
            <a:ext cx="1419308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Transparency</a:t>
            </a:r>
            <a:endParaRPr lang="en-US" sz="1050" dirty="0"/>
          </a:p>
        </p:txBody>
      </p:sp>
      <p:sp>
        <p:nvSpPr>
          <p:cNvPr id="13" name="Text 4"/>
          <p:cNvSpPr/>
          <p:nvPr/>
        </p:nvSpPr>
        <p:spPr>
          <a:xfrm>
            <a:off x="2476500" y="5078462"/>
            <a:ext cx="1670717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Data Integrity</a:t>
            </a:r>
            <a:endParaRPr lang="en-US" sz="1050" dirty="0"/>
          </a:p>
        </p:txBody>
      </p:sp>
      <p:sp>
        <p:nvSpPr>
          <p:cNvPr id="14" name="Text 5"/>
          <p:cNvSpPr/>
          <p:nvPr/>
        </p:nvSpPr>
        <p:spPr>
          <a:xfrm>
            <a:off x="3695700" y="5078462"/>
            <a:ext cx="1210151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Scalability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05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762000"/>
            <a:ext cx="11049000" cy="5524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852017"/>
            <a:ext cx="5286375" cy="2628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4125" y="1852017"/>
            <a:ext cx="5286375" cy="2628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766667"/>
            <a:ext cx="3555950" cy="1553617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7950" y="4766667"/>
            <a:ext cx="3555950" cy="1553617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64401" y="4766667"/>
            <a:ext cx="3556099" cy="1553617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762000" y="762000"/>
            <a:ext cx="11430000" cy="552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58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The Challenge: Proactive Intelligence</a:t>
            </a:r>
            <a:endParaRPr lang="en-US" sz="3600" dirty="0"/>
          </a:p>
        </p:txBody>
      </p:sp>
      <p:sp>
        <p:nvSpPr>
          <p:cNvPr id="11" name="Text 1"/>
          <p:cNvSpPr/>
          <p:nvPr/>
        </p:nvSpPr>
        <p:spPr>
          <a:xfrm>
            <a:off x="952500" y="2233017"/>
            <a:ext cx="4524375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8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12" name="Text 2"/>
          <p:cNvSpPr/>
          <p:nvPr/>
        </p:nvSpPr>
        <p:spPr>
          <a:xfrm>
            <a:off x="952500" y="2737842"/>
            <a:ext cx="4524375" cy="1219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Disconnected data silos make it difficult to identify at-risk learners and understand true content performance across the platform, leading to reactive instead of proactive management.</a:t>
            </a:r>
            <a:endParaRPr lang="en-US" sz="1500" dirty="0"/>
          </a:p>
        </p:txBody>
      </p:sp>
      <p:sp>
        <p:nvSpPr>
          <p:cNvPr id="13" name="Text 3"/>
          <p:cNvSpPr/>
          <p:nvPr/>
        </p:nvSpPr>
        <p:spPr>
          <a:xfrm>
            <a:off x="6715125" y="2233017"/>
            <a:ext cx="4524375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8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The Solution</a:t>
            </a:r>
            <a:endParaRPr lang="en-US" sz="2400" dirty="0"/>
          </a:p>
        </p:txBody>
      </p:sp>
      <p:sp>
        <p:nvSpPr>
          <p:cNvPr id="14" name="Text 4"/>
          <p:cNvSpPr/>
          <p:nvPr/>
        </p:nvSpPr>
        <p:spPr>
          <a:xfrm>
            <a:off x="6715125" y="2737842"/>
            <a:ext cx="4524375" cy="1219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An end-to-end data pipeline feeding a Flask dashboard, powered by predictive machine learning and LLM-driven recommendations to centralize intelligence and drive learner success.</a:t>
            </a:r>
            <a:endParaRPr lang="en-US" sz="1500" dirty="0"/>
          </a:p>
        </p:txBody>
      </p:sp>
      <p:sp>
        <p:nvSpPr>
          <p:cNvPr id="15" name="Text 5"/>
          <p:cNvSpPr/>
          <p:nvPr/>
        </p:nvSpPr>
        <p:spPr>
          <a:xfrm>
            <a:off x="762000" y="5185172"/>
            <a:ext cx="31749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BUSINESS VALUE</a:t>
            </a:r>
            <a:endParaRPr lang="en-US" sz="1350" dirty="0"/>
          </a:p>
        </p:txBody>
      </p:sp>
      <p:sp>
        <p:nvSpPr>
          <p:cNvPr id="16" name="Text 6"/>
          <p:cNvSpPr/>
          <p:nvPr/>
        </p:nvSpPr>
        <p:spPr>
          <a:xfrm>
            <a:off x="762000" y="5489972"/>
            <a:ext cx="3174950" cy="639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Centralizing data silos reduces operational overhead and enables a 360-degree view of learner health, improving retention rates.</a:t>
            </a:r>
            <a:endParaRPr lang="en-US" sz="1200" dirty="0"/>
          </a:p>
        </p:txBody>
      </p:sp>
      <p:sp>
        <p:nvSpPr>
          <p:cNvPr id="17" name="Text 7"/>
          <p:cNvSpPr/>
          <p:nvPr/>
        </p:nvSpPr>
        <p:spPr>
          <a:xfrm>
            <a:off x="4508450" y="5185172"/>
            <a:ext cx="31749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RECOMMENDATION</a:t>
            </a:r>
            <a:endParaRPr lang="en-US" sz="1350" dirty="0"/>
          </a:p>
        </p:txBody>
      </p:sp>
      <p:sp>
        <p:nvSpPr>
          <p:cNvPr id="18" name="Text 8"/>
          <p:cNvSpPr/>
          <p:nvPr/>
        </p:nvSpPr>
        <p:spPr>
          <a:xfrm>
            <a:off x="4508450" y="5489972"/>
            <a:ext cx="3174950" cy="639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Break down organizational silos to foster a data-driven culture across all departments for unified decision-making.</a:t>
            </a:r>
            <a:endParaRPr lang="en-US" sz="1200" dirty="0"/>
          </a:p>
        </p:txBody>
      </p:sp>
      <p:sp>
        <p:nvSpPr>
          <p:cNvPr id="19" name="Text 9"/>
          <p:cNvSpPr/>
          <p:nvPr/>
        </p:nvSpPr>
        <p:spPr>
          <a:xfrm>
            <a:off x="8254901" y="5185172"/>
            <a:ext cx="3175099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CORE VALUES</a:t>
            </a:r>
            <a:endParaRPr lang="en-US" sz="1350" dirty="0"/>
          </a:p>
        </p:txBody>
      </p:sp>
      <p:sp>
        <p:nvSpPr>
          <p:cNvPr id="20" name="Text 10"/>
          <p:cNvSpPr/>
          <p:nvPr/>
        </p:nvSpPr>
        <p:spPr>
          <a:xfrm>
            <a:off x="8254901" y="5489972"/>
            <a:ext cx="3937099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Transparency &amp; Data Integrity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05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8166"/>
            <a:ext cx="11049000" cy="5524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090291"/>
            <a:ext cx="171450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842766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595241"/>
            <a:ext cx="190500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4125" y="1261616"/>
            <a:ext cx="5286375" cy="3810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4125" y="1261616"/>
            <a:ext cx="5286375" cy="3810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5357366"/>
            <a:ext cx="3555950" cy="1553617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17950" y="5357366"/>
            <a:ext cx="3555950" cy="1553617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64401" y="5357366"/>
            <a:ext cx="3556099" cy="1553617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762000" y="328166"/>
            <a:ext cx="11430000" cy="552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58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Robust Infrastructure &amp; Pipeline</a:t>
            </a:r>
            <a:endParaRPr lang="en-US" sz="3600" dirty="0"/>
          </a:p>
        </p:txBody>
      </p:sp>
      <p:sp>
        <p:nvSpPr>
          <p:cNvPr id="14" name="Text 1"/>
          <p:cNvSpPr/>
          <p:nvPr/>
        </p:nvSpPr>
        <p:spPr>
          <a:xfrm>
            <a:off x="571500" y="1261616"/>
            <a:ext cx="5286375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Seamless integration orchestrated via </a:t>
            </a:r>
            <a:r>
              <a:rPr lang="en-US" sz="1500" b="1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AWS Athena</a:t>
            </a: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with local Parquet caching to eliminate latency and optimize costs.</a:t>
            </a:r>
            <a:endParaRPr lang="en-US" sz="1500" dirty="0"/>
          </a:p>
        </p:txBody>
      </p:sp>
      <p:sp>
        <p:nvSpPr>
          <p:cNvPr id="15" name="Text 2"/>
          <p:cNvSpPr/>
          <p:nvPr/>
        </p:nvSpPr>
        <p:spPr>
          <a:xfrm>
            <a:off x="838200" y="2061716"/>
            <a:ext cx="5286375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</a:t>
            </a:r>
            <a:r>
              <a:rPr lang="en-US" sz="1500" b="1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Cost Efficiency:</a:t>
            </a: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Local Parquet caching reduces AWS Athena query costs by up to 70%.</a:t>
            </a:r>
            <a:endParaRPr lang="en-US" sz="1500" dirty="0"/>
          </a:p>
        </p:txBody>
      </p:sp>
      <p:sp>
        <p:nvSpPr>
          <p:cNvPr id="16" name="Text 3"/>
          <p:cNvSpPr/>
          <p:nvPr/>
        </p:nvSpPr>
        <p:spPr>
          <a:xfrm>
            <a:off x="857250" y="2814191"/>
            <a:ext cx="5286375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</a:t>
            </a:r>
            <a:r>
              <a:rPr lang="en-US" sz="1500" b="1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Performance:</a:t>
            </a: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Python pipeline (awswrangler/boto3) ensures sub-second dashboard response.</a:t>
            </a:r>
            <a:endParaRPr lang="en-US" sz="1500" dirty="0"/>
          </a:p>
        </p:txBody>
      </p:sp>
      <p:sp>
        <p:nvSpPr>
          <p:cNvPr id="17" name="Text 4"/>
          <p:cNvSpPr/>
          <p:nvPr/>
        </p:nvSpPr>
        <p:spPr>
          <a:xfrm>
            <a:off x="857250" y="3566666"/>
            <a:ext cx="5286375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</a:t>
            </a:r>
            <a:r>
              <a:rPr lang="en-US" sz="1500" b="1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Scalability:</a:t>
            </a: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Decoupled architecture allows for seamless ML model updates and scaling.</a:t>
            </a:r>
            <a:endParaRPr lang="en-US" sz="1500" dirty="0"/>
          </a:p>
        </p:txBody>
      </p:sp>
      <p:sp>
        <p:nvSpPr>
          <p:cNvPr id="18" name="Text 5"/>
          <p:cNvSpPr/>
          <p:nvPr/>
        </p:nvSpPr>
        <p:spPr>
          <a:xfrm>
            <a:off x="762000" y="5775871"/>
            <a:ext cx="31749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BUSINESS VALUE</a:t>
            </a:r>
            <a:endParaRPr lang="en-US" sz="1350" dirty="0"/>
          </a:p>
        </p:txBody>
      </p:sp>
      <p:sp>
        <p:nvSpPr>
          <p:cNvPr id="19" name="Text 6"/>
          <p:cNvSpPr/>
          <p:nvPr/>
        </p:nvSpPr>
        <p:spPr>
          <a:xfrm>
            <a:off x="762000" y="6080671"/>
            <a:ext cx="3174950" cy="639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Significant reduction in cloud infrastructure spend while providing real-time insights for faster decision-making.</a:t>
            </a:r>
            <a:endParaRPr lang="en-US" sz="1200" dirty="0"/>
          </a:p>
        </p:txBody>
      </p:sp>
      <p:sp>
        <p:nvSpPr>
          <p:cNvPr id="20" name="Text 7"/>
          <p:cNvSpPr/>
          <p:nvPr/>
        </p:nvSpPr>
        <p:spPr>
          <a:xfrm>
            <a:off x="4508450" y="5775871"/>
            <a:ext cx="31749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RECOMMENDATION</a:t>
            </a:r>
            <a:endParaRPr lang="en-US" sz="1350" dirty="0"/>
          </a:p>
        </p:txBody>
      </p:sp>
      <p:sp>
        <p:nvSpPr>
          <p:cNvPr id="21" name="Text 8"/>
          <p:cNvSpPr/>
          <p:nvPr/>
        </p:nvSpPr>
        <p:spPr>
          <a:xfrm>
            <a:off x="4508450" y="6080671"/>
            <a:ext cx="3174950" cy="639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Implement automated data validation at the ingestion layer to ensure downstream model reliability and accuracy.</a:t>
            </a:r>
            <a:endParaRPr lang="en-US" sz="1200" dirty="0"/>
          </a:p>
        </p:txBody>
      </p:sp>
      <p:sp>
        <p:nvSpPr>
          <p:cNvPr id="22" name="Text 9"/>
          <p:cNvSpPr/>
          <p:nvPr/>
        </p:nvSpPr>
        <p:spPr>
          <a:xfrm>
            <a:off x="8254901" y="5775871"/>
            <a:ext cx="3175099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CORE VALUES</a:t>
            </a:r>
            <a:endParaRPr lang="en-US" sz="1350" dirty="0"/>
          </a:p>
        </p:txBody>
      </p:sp>
      <p:sp>
        <p:nvSpPr>
          <p:cNvPr id="23" name="Text 10"/>
          <p:cNvSpPr/>
          <p:nvPr/>
        </p:nvSpPr>
        <p:spPr>
          <a:xfrm>
            <a:off x="8254901" y="6080671"/>
            <a:ext cx="3937099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Scalability &amp; Efficiency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05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10046"/>
            <a:ext cx="11049000" cy="5524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43496"/>
            <a:ext cx="11049000" cy="324609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733996"/>
            <a:ext cx="1493639" cy="80769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55639" y="1733996"/>
            <a:ext cx="3128665" cy="80769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4304" y="1733996"/>
            <a:ext cx="6045696" cy="80769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2541687"/>
            <a:ext cx="1493639" cy="685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55639" y="2541687"/>
            <a:ext cx="3128665" cy="685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84304" y="2541687"/>
            <a:ext cx="6045696" cy="685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3227487"/>
            <a:ext cx="1493639" cy="685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55639" y="3227487"/>
            <a:ext cx="3128665" cy="685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84304" y="3227487"/>
            <a:ext cx="6045696" cy="685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5075337"/>
            <a:ext cx="3555950" cy="1553617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17950" y="5075337"/>
            <a:ext cx="3555950" cy="1553617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64401" y="5075337"/>
            <a:ext cx="3556099" cy="1553617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762000" y="610046"/>
            <a:ext cx="11430000" cy="552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58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Refining Data for High-Fidelity Insights</a:t>
            </a:r>
            <a:endParaRPr lang="en-US" sz="3600" dirty="0"/>
          </a:p>
        </p:txBody>
      </p:sp>
      <p:sp>
        <p:nvSpPr>
          <p:cNvPr id="19" name="Text 1"/>
          <p:cNvSpPr/>
          <p:nvPr/>
        </p:nvSpPr>
        <p:spPr>
          <a:xfrm>
            <a:off x="952500" y="1733996"/>
            <a:ext cx="1668826" cy="8076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100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Process</a:t>
            </a:r>
            <a:endParaRPr lang="en-US" sz="2100" dirty="0"/>
          </a:p>
        </p:txBody>
      </p:sp>
      <p:sp>
        <p:nvSpPr>
          <p:cNvPr id="20" name="Text 2"/>
          <p:cNvSpPr/>
          <p:nvPr/>
        </p:nvSpPr>
        <p:spPr>
          <a:xfrm>
            <a:off x="2446139" y="1733996"/>
            <a:ext cx="3091731" cy="8076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100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Methodology</a:t>
            </a:r>
            <a:endParaRPr lang="en-US" sz="2100" dirty="0"/>
          </a:p>
        </p:txBody>
      </p:sp>
      <p:sp>
        <p:nvSpPr>
          <p:cNvPr id="21" name="Text 3"/>
          <p:cNvSpPr/>
          <p:nvPr/>
        </p:nvSpPr>
        <p:spPr>
          <a:xfrm>
            <a:off x="5574804" y="1733996"/>
            <a:ext cx="5664696" cy="8076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100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Impact</a:t>
            </a:r>
            <a:endParaRPr lang="en-US" sz="2100" dirty="0"/>
          </a:p>
        </p:txBody>
      </p:sp>
      <p:sp>
        <p:nvSpPr>
          <p:cNvPr id="22" name="Text 4"/>
          <p:cNvSpPr/>
          <p:nvPr/>
        </p:nvSpPr>
        <p:spPr>
          <a:xfrm>
            <a:off x="952500" y="2770287"/>
            <a:ext cx="1828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Cleaning</a:t>
            </a:r>
            <a:endParaRPr lang="en-US" sz="1500" dirty="0"/>
          </a:p>
        </p:txBody>
      </p:sp>
      <p:sp>
        <p:nvSpPr>
          <p:cNvPr id="23" name="Text 5"/>
          <p:cNvSpPr/>
          <p:nvPr/>
        </p:nvSpPr>
        <p:spPr>
          <a:xfrm>
            <a:off x="2446139" y="2541687"/>
            <a:ext cx="575517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Log1p &amp; Spearman Correlation</a:t>
            </a:r>
            <a:endParaRPr lang="en-US" sz="1500" dirty="0"/>
          </a:p>
        </p:txBody>
      </p:sp>
      <p:sp>
        <p:nvSpPr>
          <p:cNvPr id="24" name="Text 6"/>
          <p:cNvSpPr/>
          <p:nvPr/>
        </p:nvSpPr>
        <p:spPr>
          <a:xfrm>
            <a:off x="5574804" y="2541687"/>
            <a:ext cx="6617196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Handled outliers and skewed distributions for robust modeling</a:t>
            </a:r>
            <a:endParaRPr lang="en-US" sz="1500" dirty="0"/>
          </a:p>
        </p:txBody>
      </p:sp>
      <p:sp>
        <p:nvSpPr>
          <p:cNvPr id="25" name="Text 7"/>
          <p:cNvSpPr/>
          <p:nvPr/>
        </p:nvSpPr>
        <p:spPr>
          <a:xfrm>
            <a:off x="952500" y="3456087"/>
            <a:ext cx="2514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Engineering</a:t>
            </a:r>
            <a:endParaRPr lang="en-US" sz="1500" dirty="0"/>
          </a:p>
        </p:txBody>
      </p:sp>
      <p:sp>
        <p:nvSpPr>
          <p:cNvPr id="26" name="Text 8"/>
          <p:cNvSpPr/>
          <p:nvPr/>
        </p:nvSpPr>
        <p:spPr>
          <a:xfrm>
            <a:off x="2446139" y="3227487"/>
            <a:ext cx="4215996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li_attempts Deep-Dive</a:t>
            </a:r>
            <a:endParaRPr lang="en-US" sz="1500" dirty="0"/>
          </a:p>
        </p:txBody>
      </p:sp>
      <p:sp>
        <p:nvSpPr>
          <p:cNvPr id="27" name="Text 9"/>
          <p:cNvSpPr/>
          <p:nvPr/>
        </p:nvSpPr>
        <p:spPr>
          <a:xfrm>
            <a:off x="5574804" y="3227487"/>
            <a:ext cx="6617196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Captured active days, completion rates, and granular scores</a:t>
            </a:r>
            <a:endParaRPr lang="en-US" sz="1500" dirty="0"/>
          </a:p>
        </p:txBody>
      </p:sp>
      <p:sp>
        <p:nvSpPr>
          <p:cNvPr id="28" name="Text 10"/>
          <p:cNvSpPr/>
          <p:nvPr/>
        </p:nvSpPr>
        <p:spPr>
          <a:xfrm>
            <a:off x="952500" y="4141887"/>
            <a:ext cx="2057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Weighting</a:t>
            </a:r>
            <a:endParaRPr lang="en-US" sz="1500" dirty="0"/>
          </a:p>
        </p:txBody>
      </p:sp>
      <p:sp>
        <p:nvSpPr>
          <p:cNvPr id="29" name="Text 11"/>
          <p:cNvSpPr/>
          <p:nvPr/>
        </p:nvSpPr>
        <p:spPr>
          <a:xfrm>
            <a:off x="2446139" y="3913287"/>
            <a:ext cx="2747665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PCA Loadings</a:t>
            </a:r>
            <a:endParaRPr lang="en-US" sz="1500" dirty="0"/>
          </a:p>
        </p:txBody>
      </p:sp>
      <p:sp>
        <p:nvSpPr>
          <p:cNvPr id="30" name="Text 12"/>
          <p:cNvSpPr/>
          <p:nvPr/>
        </p:nvSpPr>
        <p:spPr>
          <a:xfrm>
            <a:off x="5574804" y="3913287"/>
            <a:ext cx="6617196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Statistically justified engagement metrics for unbiased analysis</a:t>
            </a:r>
            <a:endParaRPr lang="en-US" sz="1500" dirty="0"/>
          </a:p>
        </p:txBody>
      </p:sp>
      <p:sp>
        <p:nvSpPr>
          <p:cNvPr id="31" name="Text 13"/>
          <p:cNvSpPr/>
          <p:nvPr/>
        </p:nvSpPr>
        <p:spPr>
          <a:xfrm>
            <a:off x="762000" y="5493841"/>
            <a:ext cx="31749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BUSINESS VALUE</a:t>
            </a:r>
            <a:endParaRPr lang="en-US" sz="1350" dirty="0"/>
          </a:p>
        </p:txBody>
      </p:sp>
      <p:sp>
        <p:nvSpPr>
          <p:cNvPr id="32" name="Text 14"/>
          <p:cNvSpPr/>
          <p:nvPr/>
        </p:nvSpPr>
        <p:spPr>
          <a:xfrm>
            <a:off x="762000" y="5798641"/>
            <a:ext cx="3174950" cy="639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Statistically justified metrics (PCA) ensure that interventions are based on true engagement, not noise, reducing false alarms.</a:t>
            </a:r>
            <a:endParaRPr lang="en-US" sz="1200" dirty="0"/>
          </a:p>
        </p:txBody>
      </p:sp>
      <p:sp>
        <p:nvSpPr>
          <p:cNvPr id="33" name="Text 15"/>
          <p:cNvSpPr/>
          <p:nvPr/>
        </p:nvSpPr>
        <p:spPr>
          <a:xfrm>
            <a:off x="4508450" y="5493841"/>
            <a:ext cx="31749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RECOMMENDATION</a:t>
            </a:r>
            <a:endParaRPr lang="en-US" sz="1350" dirty="0"/>
          </a:p>
        </p:txBody>
      </p:sp>
      <p:sp>
        <p:nvSpPr>
          <p:cNvPr id="34" name="Text 16"/>
          <p:cNvSpPr/>
          <p:nvPr/>
        </p:nvSpPr>
        <p:spPr>
          <a:xfrm>
            <a:off x="4508450" y="5798641"/>
            <a:ext cx="3174950" cy="639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Periodically re-calibrate engagement weights to adapt to changing platform features and evolving user behaviors.</a:t>
            </a:r>
            <a:endParaRPr lang="en-US" sz="1200" dirty="0"/>
          </a:p>
        </p:txBody>
      </p:sp>
      <p:sp>
        <p:nvSpPr>
          <p:cNvPr id="35" name="Text 17"/>
          <p:cNvSpPr/>
          <p:nvPr/>
        </p:nvSpPr>
        <p:spPr>
          <a:xfrm>
            <a:off x="8254901" y="5493841"/>
            <a:ext cx="3175099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CORE VALUES</a:t>
            </a:r>
            <a:endParaRPr lang="en-US" sz="1350" dirty="0"/>
          </a:p>
        </p:txBody>
      </p:sp>
      <p:sp>
        <p:nvSpPr>
          <p:cNvPr id="36" name="Text 18"/>
          <p:cNvSpPr/>
          <p:nvPr/>
        </p:nvSpPr>
        <p:spPr>
          <a:xfrm>
            <a:off x="8254901" y="5798641"/>
            <a:ext cx="3937099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Precision &amp; Data Integrity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5" y="1905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0"/>
            <a:ext cx="11049000" cy="47104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9750" y="852041"/>
            <a:ext cx="8572500" cy="13049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1250" y="1042541"/>
            <a:ext cx="22860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09750" y="2395091"/>
            <a:ext cx="8572500" cy="13049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1250" y="2585591"/>
            <a:ext cx="228600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09750" y="3938141"/>
            <a:ext cx="8572500" cy="13049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81250" y="4128641"/>
            <a:ext cx="257175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5766941"/>
            <a:ext cx="3555950" cy="1553617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17950" y="5766941"/>
            <a:ext cx="3555950" cy="1553617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64401" y="5766941"/>
            <a:ext cx="3556099" cy="1553617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762000" y="-81409"/>
            <a:ext cx="11430000" cy="552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58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Proactive Churn Prediction (XGBoost)</a:t>
            </a:r>
            <a:endParaRPr lang="en-US" sz="3600" dirty="0"/>
          </a:p>
        </p:txBody>
      </p:sp>
      <p:sp>
        <p:nvSpPr>
          <p:cNvPr id="15" name="Text 1"/>
          <p:cNvSpPr/>
          <p:nvPr/>
        </p:nvSpPr>
        <p:spPr>
          <a:xfrm>
            <a:off x="2609850" y="852041"/>
            <a:ext cx="7810500" cy="1304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</a:t>
            </a:r>
            <a:r>
              <a:rPr lang="en-US" sz="1500" b="1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Optimized XGBoost Classifier</a:t>
            </a: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
High-accuracy model deployed to identify at-risk learners before they drop out, enabling early intervention.</a:t>
            </a:r>
            <a:endParaRPr lang="en-US" sz="1500" dirty="0"/>
          </a:p>
        </p:txBody>
      </p:sp>
      <p:sp>
        <p:nvSpPr>
          <p:cNvPr id="16" name="Text 2"/>
          <p:cNvSpPr/>
          <p:nvPr/>
        </p:nvSpPr>
        <p:spPr>
          <a:xfrm>
            <a:off x="2609850" y="2395091"/>
            <a:ext cx="7810500" cy="1304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</a:t>
            </a:r>
            <a:r>
              <a:rPr lang="en-US" sz="1500" b="1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Leakage Elimination</a:t>
            </a: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
Removed 'days_since_last_login' to ensure realistic and robust model performance in real-world scenarios.</a:t>
            </a:r>
            <a:endParaRPr lang="en-US" sz="1500" dirty="0"/>
          </a:p>
        </p:txBody>
      </p:sp>
      <p:sp>
        <p:nvSpPr>
          <p:cNvPr id="17" name="Text 3"/>
          <p:cNvSpPr/>
          <p:nvPr/>
        </p:nvSpPr>
        <p:spPr>
          <a:xfrm>
            <a:off x="2638425" y="3938141"/>
            <a:ext cx="7810500" cy="1304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</a:t>
            </a:r>
            <a:r>
              <a:rPr lang="en-US" sz="1500" b="1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Explainable AI (SHAP)</a:t>
            </a: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
Integrated SHAP values to provide transparent, per-user churn risk drivers, building trust with non-technical managers.</a:t>
            </a:r>
            <a:endParaRPr lang="en-US" sz="1500" dirty="0"/>
          </a:p>
        </p:txBody>
      </p:sp>
      <p:sp>
        <p:nvSpPr>
          <p:cNvPr id="18" name="Text 4"/>
          <p:cNvSpPr/>
          <p:nvPr/>
        </p:nvSpPr>
        <p:spPr>
          <a:xfrm>
            <a:off x="762000" y="5997639"/>
            <a:ext cx="31749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BUSINESS VALUE</a:t>
            </a:r>
            <a:endParaRPr lang="en-US" sz="1350" dirty="0"/>
          </a:p>
        </p:txBody>
      </p:sp>
      <p:sp>
        <p:nvSpPr>
          <p:cNvPr id="19" name="Text 5"/>
          <p:cNvSpPr/>
          <p:nvPr/>
        </p:nvSpPr>
        <p:spPr>
          <a:xfrm>
            <a:off x="762000" y="6223843"/>
            <a:ext cx="3174950" cy="639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SHAP values translate complex ML outputs into human-readable drivers, building executive trust and enabling targeted action.</a:t>
            </a:r>
            <a:endParaRPr lang="en-US" sz="1200" dirty="0"/>
          </a:p>
        </p:txBody>
      </p:sp>
      <p:sp>
        <p:nvSpPr>
          <p:cNvPr id="20" name="Text 6"/>
          <p:cNvSpPr/>
          <p:nvPr/>
        </p:nvSpPr>
        <p:spPr>
          <a:xfrm>
            <a:off x="4508450" y="5975896"/>
            <a:ext cx="31749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RECOMMENDATION</a:t>
            </a:r>
            <a:endParaRPr lang="en-US" sz="1350" dirty="0"/>
          </a:p>
        </p:txBody>
      </p:sp>
      <p:sp>
        <p:nvSpPr>
          <p:cNvPr id="21" name="Text 7"/>
          <p:cNvSpPr/>
          <p:nvPr/>
        </p:nvSpPr>
        <p:spPr>
          <a:xfrm>
            <a:off x="4508450" y="6213453"/>
            <a:ext cx="3174950" cy="639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Deploy automated alerts for high-risk segments to trigger immediate human-led intervention and personalized support.</a:t>
            </a:r>
            <a:endParaRPr lang="en-US" sz="1200" dirty="0"/>
          </a:p>
        </p:txBody>
      </p:sp>
      <p:sp>
        <p:nvSpPr>
          <p:cNvPr id="22" name="Text 8"/>
          <p:cNvSpPr/>
          <p:nvPr/>
        </p:nvSpPr>
        <p:spPr>
          <a:xfrm>
            <a:off x="8254900" y="6003903"/>
            <a:ext cx="3175099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CORE VALUES</a:t>
            </a:r>
            <a:endParaRPr lang="en-US" sz="1350" dirty="0"/>
          </a:p>
        </p:txBody>
      </p:sp>
      <p:sp>
        <p:nvSpPr>
          <p:cNvPr id="23" name="Text 9"/>
          <p:cNvSpPr/>
          <p:nvPr/>
        </p:nvSpPr>
        <p:spPr>
          <a:xfrm>
            <a:off x="8254826" y="6320056"/>
            <a:ext cx="3937099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Transparency &amp; Accountability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05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6763"/>
            <a:ext cx="11049000" cy="5524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30213"/>
            <a:ext cx="5334000" cy="365938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1373088"/>
            <a:ext cx="5048250" cy="2095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1230213"/>
            <a:ext cx="5334000" cy="365938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75" y="1373088"/>
            <a:ext cx="5048250" cy="2095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5175349"/>
            <a:ext cx="3555950" cy="1766888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17950" y="5175349"/>
            <a:ext cx="3555950" cy="1766888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64401" y="5175349"/>
            <a:ext cx="3556099" cy="1766888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762000" y="296763"/>
            <a:ext cx="11430000" cy="552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58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Understanding Users &amp; Growth</a:t>
            </a:r>
            <a:endParaRPr lang="en-US" sz="3600" dirty="0"/>
          </a:p>
        </p:txBody>
      </p:sp>
      <p:sp>
        <p:nvSpPr>
          <p:cNvPr id="13" name="Text 1"/>
          <p:cNvSpPr/>
          <p:nvPr/>
        </p:nvSpPr>
        <p:spPr>
          <a:xfrm>
            <a:off x="714375" y="3611463"/>
            <a:ext cx="5048250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-38" dirty="0">
                <a:solidFill>
                  <a:srgbClr val="47556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RFM Segmentation</a:t>
            </a:r>
            <a:endParaRPr lang="en-US" sz="2400" dirty="0"/>
          </a:p>
        </p:txBody>
      </p:sp>
      <p:sp>
        <p:nvSpPr>
          <p:cNvPr id="14" name="Text 2"/>
          <p:cNvSpPr/>
          <p:nvPr/>
        </p:nvSpPr>
        <p:spPr>
          <a:xfrm>
            <a:off x="714375" y="4116288"/>
            <a:ext cx="5048250" cy="4875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Robust clustering mapping users into Power, Casual, and Inactive tiers for targeted engagement.</a:t>
            </a:r>
            <a:endParaRPr lang="en-US" sz="1200" dirty="0"/>
          </a:p>
        </p:txBody>
      </p:sp>
      <p:sp>
        <p:nvSpPr>
          <p:cNvPr id="15" name="Text 3"/>
          <p:cNvSpPr/>
          <p:nvPr/>
        </p:nvSpPr>
        <p:spPr>
          <a:xfrm>
            <a:off x="6429375" y="3611463"/>
            <a:ext cx="5048250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-38" dirty="0">
                <a:solidFill>
                  <a:srgbClr val="47556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Growth Forecasting</a:t>
            </a:r>
            <a:endParaRPr lang="en-US" sz="2400" dirty="0"/>
          </a:p>
        </p:txBody>
      </p:sp>
      <p:sp>
        <p:nvSpPr>
          <p:cNvPr id="16" name="Text 4"/>
          <p:cNvSpPr/>
          <p:nvPr/>
        </p:nvSpPr>
        <p:spPr>
          <a:xfrm>
            <a:off x="6429375" y="4116288"/>
            <a:ext cx="5048250" cy="4875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Utilizing Prophet to project engagement and user growth for the next 30 days with high confidence.</a:t>
            </a:r>
            <a:endParaRPr lang="en-US" sz="1200" dirty="0"/>
          </a:p>
        </p:txBody>
      </p:sp>
      <p:sp>
        <p:nvSpPr>
          <p:cNvPr id="17" name="Text 5"/>
          <p:cNvSpPr/>
          <p:nvPr/>
        </p:nvSpPr>
        <p:spPr>
          <a:xfrm>
            <a:off x="762000" y="5593854"/>
            <a:ext cx="31749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BUSINESS VALUE</a:t>
            </a:r>
            <a:endParaRPr lang="en-US" sz="1350" dirty="0"/>
          </a:p>
        </p:txBody>
      </p:sp>
      <p:sp>
        <p:nvSpPr>
          <p:cNvPr id="18" name="Text 6"/>
          <p:cNvSpPr/>
          <p:nvPr/>
        </p:nvSpPr>
        <p:spPr>
          <a:xfrm>
            <a:off x="762000" y="5898654"/>
            <a:ext cx="3174950" cy="8530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RFM segmentation optimizes marketing ROI by focusing retention spend on high-LTV "Power" users and identifying growth opportunities.</a:t>
            </a:r>
            <a:endParaRPr lang="en-US" sz="1200" dirty="0"/>
          </a:p>
        </p:txBody>
      </p:sp>
      <p:sp>
        <p:nvSpPr>
          <p:cNvPr id="19" name="Text 7"/>
          <p:cNvSpPr/>
          <p:nvPr/>
        </p:nvSpPr>
        <p:spPr>
          <a:xfrm>
            <a:off x="4508450" y="5593854"/>
            <a:ext cx="31749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RECOMMENDATION</a:t>
            </a:r>
            <a:endParaRPr lang="en-US" sz="1350" dirty="0"/>
          </a:p>
        </p:txBody>
      </p:sp>
      <p:sp>
        <p:nvSpPr>
          <p:cNvPr id="20" name="Text 8"/>
          <p:cNvSpPr/>
          <p:nvPr/>
        </p:nvSpPr>
        <p:spPr>
          <a:xfrm>
            <a:off x="4508450" y="5898654"/>
            <a:ext cx="3174950" cy="639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Develop tailored content tracks for "Casual" users to migrate them into the "Power" tier through personalized learning paths.</a:t>
            </a:r>
            <a:endParaRPr lang="en-US" sz="1200" dirty="0"/>
          </a:p>
        </p:txBody>
      </p:sp>
      <p:sp>
        <p:nvSpPr>
          <p:cNvPr id="21" name="Text 9"/>
          <p:cNvSpPr/>
          <p:nvPr/>
        </p:nvSpPr>
        <p:spPr>
          <a:xfrm>
            <a:off x="8254901" y="5593854"/>
            <a:ext cx="3175099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CORE VALUES</a:t>
            </a:r>
            <a:endParaRPr lang="en-US" sz="1350" dirty="0"/>
          </a:p>
        </p:txBody>
      </p:sp>
      <p:sp>
        <p:nvSpPr>
          <p:cNvPr id="22" name="Text 10"/>
          <p:cNvSpPr/>
          <p:nvPr/>
        </p:nvSpPr>
        <p:spPr>
          <a:xfrm>
            <a:off x="8254901" y="5898654"/>
            <a:ext cx="3937099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Customer-Centricity &amp; Growth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05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762000"/>
            <a:ext cx="5286375" cy="5524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333875"/>
            <a:ext cx="5286375" cy="134034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717828"/>
            <a:ext cx="5286375" cy="134034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4125" y="190500"/>
            <a:ext cx="5857875" cy="68580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762000" y="762000"/>
            <a:ext cx="11430000" cy="552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58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Interactive Intelligence</a:t>
            </a:r>
            <a:endParaRPr lang="en-US" sz="3600" dirty="0"/>
          </a:p>
        </p:txBody>
      </p:sp>
      <p:sp>
        <p:nvSpPr>
          <p:cNvPr id="9" name="Text 1"/>
          <p:cNvSpPr/>
          <p:nvPr/>
        </p:nvSpPr>
        <p:spPr>
          <a:xfrm>
            <a:off x="571500" y="1695450"/>
            <a:ext cx="528637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Flask Dashboard Demo</a:t>
            </a:r>
            <a:endParaRPr lang="en-US" sz="1500" dirty="0"/>
          </a:p>
        </p:txBody>
      </p:sp>
      <p:sp>
        <p:nvSpPr>
          <p:cNvPr id="10" name="Text 2"/>
          <p:cNvSpPr/>
          <p:nvPr/>
        </p:nvSpPr>
        <p:spPr>
          <a:xfrm>
            <a:off x="571500" y="2143125"/>
            <a:ext cx="5286375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Real-time monitoring of Monthly Growth Metrics and Churn Risk Overviews for immediate operational awareness.</a:t>
            </a:r>
            <a:endParaRPr lang="en-US" sz="1500" dirty="0"/>
          </a:p>
        </p:txBody>
      </p:sp>
      <p:sp>
        <p:nvSpPr>
          <p:cNvPr id="11" name="Text 3"/>
          <p:cNvSpPr/>
          <p:nvPr/>
        </p:nvSpPr>
        <p:spPr>
          <a:xfrm>
            <a:off x="571500" y="3086100"/>
            <a:ext cx="5286375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Marketing Action Board:</a:t>
            </a: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Integrated LLM-based recommendations providing data-backed strategies for non-technical stakeholders.</a:t>
            </a:r>
            <a:endParaRPr lang="en-US" sz="1500" dirty="0"/>
          </a:p>
        </p:txBody>
      </p:sp>
      <p:sp>
        <p:nvSpPr>
          <p:cNvPr id="12" name="Text 4"/>
          <p:cNvSpPr/>
          <p:nvPr/>
        </p:nvSpPr>
        <p:spPr>
          <a:xfrm>
            <a:off x="762000" y="4752380"/>
            <a:ext cx="490537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BUSINESS VALUE</a:t>
            </a:r>
            <a:endParaRPr lang="en-US" sz="1350" dirty="0"/>
          </a:p>
        </p:txBody>
      </p:sp>
      <p:sp>
        <p:nvSpPr>
          <p:cNvPr id="13" name="Text 5"/>
          <p:cNvSpPr/>
          <p:nvPr/>
        </p:nvSpPr>
        <p:spPr>
          <a:xfrm>
            <a:off x="762000" y="5057180"/>
            <a:ext cx="4905375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Real-time Flask dashboards empower non-technical stakeholders to make data-backed decisions instantly, reducing time-to-action.</a:t>
            </a:r>
            <a:endParaRPr lang="en-US" sz="1200" dirty="0"/>
          </a:p>
        </p:txBody>
      </p:sp>
      <p:sp>
        <p:nvSpPr>
          <p:cNvPr id="14" name="Text 6"/>
          <p:cNvSpPr/>
          <p:nvPr/>
        </p:nvSpPr>
        <p:spPr>
          <a:xfrm>
            <a:off x="714375" y="6059974"/>
            <a:ext cx="490537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RECOMMENDATION</a:t>
            </a:r>
            <a:endParaRPr lang="en-US" sz="1350" dirty="0"/>
          </a:p>
        </p:txBody>
      </p:sp>
      <p:sp>
        <p:nvSpPr>
          <p:cNvPr id="15" name="Text 7"/>
          <p:cNvSpPr/>
          <p:nvPr/>
        </p:nvSpPr>
        <p:spPr>
          <a:xfrm>
            <a:off x="714374" y="6313131"/>
            <a:ext cx="4905375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Integrate LLM-driven marketing recommendations directly into existing communication workflows (e.g., Slack/Email).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05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09141"/>
            <a:ext cx="11049000" cy="5524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442591"/>
            <a:ext cx="3429000" cy="34480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0" y="1728341"/>
            <a:ext cx="762000" cy="762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7400" y="1880741"/>
            <a:ext cx="457200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1500" y="1442591"/>
            <a:ext cx="3429000" cy="34480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0" y="1728341"/>
            <a:ext cx="762000" cy="762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67400" y="1880741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91500" y="1442591"/>
            <a:ext cx="3429000" cy="34480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25000" y="1728341"/>
            <a:ext cx="762000" cy="762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34550" y="1880741"/>
            <a:ext cx="3429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5176391"/>
            <a:ext cx="3555950" cy="1553617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17950" y="5176391"/>
            <a:ext cx="3555950" cy="1553617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64401" y="5176391"/>
            <a:ext cx="3556099" cy="1553617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762000" y="509141"/>
            <a:ext cx="11430000" cy="552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58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Translating Models into Value</a:t>
            </a:r>
            <a:endParaRPr lang="en-US" sz="3600" dirty="0"/>
          </a:p>
        </p:txBody>
      </p:sp>
      <p:sp>
        <p:nvSpPr>
          <p:cNvPr id="18" name="Text 1"/>
          <p:cNvSpPr/>
          <p:nvPr/>
        </p:nvSpPr>
        <p:spPr>
          <a:xfrm>
            <a:off x="1040606" y="2680841"/>
            <a:ext cx="2490639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-38" dirty="0">
                <a:solidFill>
                  <a:srgbClr val="47556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Retention Tracking</a:t>
            </a:r>
            <a:endParaRPr lang="en-US" sz="2400" dirty="0"/>
          </a:p>
        </p:txBody>
      </p:sp>
      <p:sp>
        <p:nvSpPr>
          <p:cNvPr id="19" name="Text 2"/>
          <p:cNvSpPr/>
          <p:nvPr/>
        </p:nvSpPr>
        <p:spPr>
          <a:xfrm>
            <a:off x="857250" y="3185666"/>
            <a:ext cx="2857500" cy="1219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Cohort analysis identifies drop-off points for targeted re-engagement, optimizing marketing spend.</a:t>
            </a:r>
            <a:endParaRPr lang="en-US" sz="1500" dirty="0"/>
          </a:p>
        </p:txBody>
      </p:sp>
      <p:sp>
        <p:nvSpPr>
          <p:cNvPr id="20" name="Text 3"/>
          <p:cNvSpPr/>
          <p:nvPr/>
        </p:nvSpPr>
        <p:spPr>
          <a:xfrm>
            <a:off x="4801344" y="2680841"/>
            <a:ext cx="2589312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-38" dirty="0">
                <a:solidFill>
                  <a:srgbClr val="47556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Resource Allocation</a:t>
            </a:r>
            <a:endParaRPr lang="en-US" sz="2400" dirty="0"/>
          </a:p>
        </p:txBody>
      </p:sp>
      <p:sp>
        <p:nvSpPr>
          <p:cNvPr id="21" name="Text 4"/>
          <p:cNvSpPr/>
          <p:nvPr/>
        </p:nvSpPr>
        <p:spPr>
          <a:xfrm>
            <a:off x="4667250" y="3185666"/>
            <a:ext cx="28575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Prioritize UI and content fixes based on SHAP-identified churn drivers to maximize impact.</a:t>
            </a:r>
            <a:endParaRPr lang="en-US" sz="1500" dirty="0"/>
          </a:p>
        </p:txBody>
      </p:sp>
      <p:sp>
        <p:nvSpPr>
          <p:cNvPr id="22" name="Text 5"/>
          <p:cNvSpPr/>
          <p:nvPr/>
        </p:nvSpPr>
        <p:spPr>
          <a:xfrm>
            <a:off x="8477250" y="2680841"/>
            <a:ext cx="2857500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-38" dirty="0">
                <a:solidFill>
                  <a:srgbClr val="475569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Actionable Marketing</a:t>
            </a:r>
            <a:endParaRPr lang="en-US" sz="2400" dirty="0"/>
          </a:p>
        </p:txBody>
      </p:sp>
      <p:sp>
        <p:nvSpPr>
          <p:cNvPr id="23" name="Text 6"/>
          <p:cNvSpPr/>
          <p:nvPr/>
        </p:nvSpPr>
        <p:spPr>
          <a:xfrm>
            <a:off x="8477250" y="3547616"/>
            <a:ext cx="28575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LLM integration provides instant, readable marketing strategies for rapid execution.</a:t>
            </a:r>
            <a:endParaRPr lang="en-US" sz="1500" dirty="0"/>
          </a:p>
        </p:txBody>
      </p:sp>
      <p:sp>
        <p:nvSpPr>
          <p:cNvPr id="24" name="Text 7"/>
          <p:cNvSpPr/>
          <p:nvPr/>
        </p:nvSpPr>
        <p:spPr>
          <a:xfrm>
            <a:off x="762000" y="5594896"/>
            <a:ext cx="31749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BUSINESS VALUE</a:t>
            </a:r>
            <a:endParaRPr lang="en-US" sz="1350" dirty="0"/>
          </a:p>
        </p:txBody>
      </p:sp>
      <p:sp>
        <p:nvSpPr>
          <p:cNvPr id="25" name="Text 8"/>
          <p:cNvSpPr/>
          <p:nvPr/>
        </p:nvSpPr>
        <p:spPr>
          <a:xfrm>
            <a:off x="762000" y="5899696"/>
            <a:ext cx="3174950" cy="639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Cohort analysis quantifies the impact of product updates on retention, enabling a 20% optimization in marketing spend.</a:t>
            </a:r>
            <a:endParaRPr lang="en-US" sz="1200" dirty="0"/>
          </a:p>
        </p:txBody>
      </p:sp>
      <p:sp>
        <p:nvSpPr>
          <p:cNvPr id="26" name="Text 9"/>
          <p:cNvSpPr/>
          <p:nvPr/>
        </p:nvSpPr>
        <p:spPr>
          <a:xfrm>
            <a:off x="4508450" y="5594896"/>
            <a:ext cx="31749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RECOMMENDATION</a:t>
            </a:r>
            <a:endParaRPr lang="en-US" sz="1350" dirty="0"/>
          </a:p>
        </p:txBody>
      </p:sp>
      <p:sp>
        <p:nvSpPr>
          <p:cNvPr id="27" name="Text 10"/>
          <p:cNvSpPr/>
          <p:nvPr/>
        </p:nvSpPr>
        <p:spPr>
          <a:xfrm>
            <a:off x="4508450" y="5899696"/>
            <a:ext cx="3174950" cy="639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Use SHAP-identified churn drivers to prioritize the product engineering roadmap for maximum user retention.</a:t>
            </a:r>
            <a:endParaRPr lang="en-US" sz="1200" dirty="0"/>
          </a:p>
        </p:txBody>
      </p:sp>
      <p:sp>
        <p:nvSpPr>
          <p:cNvPr id="28" name="Text 11"/>
          <p:cNvSpPr/>
          <p:nvPr/>
        </p:nvSpPr>
        <p:spPr>
          <a:xfrm>
            <a:off x="8254901" y="5594896"/>
            <a:ext cx="3175099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CORE VALUES</a:t>
            </a:r>
            <a:endParaRPr lang="en-US" sz="1350" dirty="0"/>
          </a:p>
        </p:txBody>
      </p:sp>
      <p:sp>
        <p:nvSpPr>
          <p:cNvPr id="29" name="Text 12"/>
          <p:cNvSpPr/>
          <p:nvPr/>
        </p:nvSpPr>
        <p:spPr>
          <a:xfrm>
            <a:off x="8254901" y="5899696"/>
            <a:ext cx="3937099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ROI-Driven &amp; Strategic Alignment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692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762000"/>
            <a:ext cx="11049000" cy="5524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938512"/>
            <a:ext cx="110490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75" y="3008709"/>
            <a:ext cx="2541240" cy="143619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4545" y="1721398"/>
            <a:ext cx="2541240" cy="119241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3340" y="3023592"/>
            <a:ext cx="2541240" cy="119241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79260" y="1754981"/>
            <a:ext cx="2541240" cy="119241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4293592"/>
            <a:ext cx="3555950" cy="1553617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17950" y="4293592"/>
            <a:ext cx="3555950" cy="1553617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64401" y="4293592"/>
            <a:ext cx="3556099" cy="1553617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762000" y="762000"/>
            <a:ext cx="10858500" cy="552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58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Looking Ahead</a:t>
            </a:r>
            <a:endParaRPr lang="en-US" sz="3600" dirty="0"/>
          </a:p>
        </p:txBody>
      </p:sp>
      <p:sp>
        <p:nvSpPr>
          <p:cNvPr id="14" name="Text 1"/>
          <p:cNvSpPr/>
          <p:nvPr/>
        </p:nvSpPr>
        <p:spPr>
          <a:xfrm>
            <a:off x="714375" y="3166467"/>
            <a:ext cx="22554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-24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Real-Time</a:t>
            </a:r>
            <a:endParaRPr lang="en-US" sz="1500" dirty="0"/>
          </a:p>
        </p:txBody>
      </p:sp>
      <p:sp>
        <p:nvSpPr>
          <p:cNvPr id="15" name="Text 2"/>
          <p:cNvSpPr/>
          <p:nvPr/>
        </p:nvSpPr>
        <p:spPr>
          <a:xfrm>
            <a:off x="714375" y="3442692"/>
            <a:ext cx="2255490" cy="7313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Transition to AWS Kinesis streaming for instant data processing.</a:t>
            </a:r>
            <a:endParaRPr lang="en-US" sz="1200" dirty="0"/>
          </a:p>
        </p:txBody>
      </p:sp>
      <p:sp>
        <p:nvSpPr>
          <p:cNvPr id="16" name="Text 3"/>
          <p:cNvSpPr/>
          <p:nvPr/>
        </p:nvSpPr>
        <p:spPr>
          <a:xfrm>
            <a:off x="3550295" y="1974056"/>
            <a:ext cx="22554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-24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Personalization</a:t>
            </a:r>
            <a:endParaRPr lang="en-US" sz="1500" dirty="0"/>
          </a:p>
        </p:txBody>
      </p:sp>
      <p:sp>
        <p:nvSpPr>
          <p:cNvPr id="17" name="Text 4"/>
          <p:cNvSpPr/>
          <p:nvPr/>
        </p:nvSpPr>
        <p:spPr>
          <a:xfrm>
            <a:off x="3550295" y="2250281"/>
            <a:ext cx="2255490" cy="4875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Collaborative filtering engine for hyper-personalized learning.</a:t>
            </a:r>
            <a:endParaRPr lang="en-US" sz="1200" dirty="0"/>
          </a:p>
        </p:txBody>
      </p:sp>
      <p:sp>
        <p:nvSpPr>
          <p:cNvPr id="18" name="Text 5"/>
          <p:cNvSpPr/>
          <p:nvPr/>
        </p:nvSpPr>
        <p:spPr>
          <a:xfrm>
            <a:off x="6386215" y="3166467"/>
            <a:ext cx="22554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-24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A/B Testing</a:t>
            </a:r>
            <a:endParaRPr lang="en-US" sz="1500" dirty="0"/>
          </a:p>
        </p:txBody>
      </p:sp>
      <p:sp>
        <p:nvSpPr>
          <p:cNvPr id="19" name="Text 6"/>
          <p:cNvSpPr/>
          <p:nvPr/>
        </p:nvSpPr>
        <p:spPr>
          <a:xfrm>
            <a:off x="6386215" y="3442692"/>
            <a:ext cx="2255490" cy="4875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Direct dashboard integration for rapid feature validation.</a:t>
            </a:r>
            <a:endParaRPr lang="en-US" sz="1200" dirty="0"/>
          </a:p>
        </p:txBody>
      </p:sp>
      <p:sp>
        <p:nvSpPr>
          <p:cNvPr id="20" name="Text 7"/>
          <p:cNvSpPr/>
          <p:nvPr/>
        </p:nvSpPr>
        <p:spPr>
          <a:xfrm>
            <a:off x="9222135" y="1974056"/>
            <a:ext cx="22554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-24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Scale</a:t>
            </a:r>
            <a:endParaRPr lang="en-US" sz="1500" dirty="0"/>
          </a:p>
        </p:txBody>
      </p:sp>
      <p:sp>
        <p:nvSpPr>
          <p:cNvPr id="21" name="Text 8"/>
          <p:cNvSpPr/>
          <p:nvPr/>
        </p:nvSpPr>
        <p:spPr>
          <a:xfrm>
            <a:off x="9222135" y="2250281"/>
            <a:ext cx="2255490" cy="4875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Global multi-region deployment for low-latency access.</a:t>
            </a:r>
            <a:endParaRPr lang="en-US" sz="1200" dirty="0"/>
          </a:p>
        </p:txBody>
      </p:sp>
      <p:sp>
        <p:nvSpPr>
          <p:cNvPr id="22" name="Text 9"/>
          <p:cNvSpPr/>
          <p:nvPr/>
        </p:nvSpPr>
        <p:spPr>
          <a:xfrm>
            <a:off x="762000" y="4394597"/>
            <a:ext cx="31749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BUSINESS VALUE</a:t>
            </a:r>
            <a:endParaRPr lang="en-US" sz="1350" dirty="0"/>
          </a:p>
        </p:txBody>
      </p:sp>
      <p:sp>
        <p:nvSpPr>
          <p:cNvPr id="23" name="Text 10"/>
          <p:cNvSpPr/>
          <p:nvPr/>
        </p:nvSpPr>
        <p:spPr>
          <a:xfrm>
            <a:off x="762000" y="4699397"/>
            <a:ext cx="3174950" cy="639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Transitioning to real-time streaming and personalization future-proofs the platform for global scale and hyper-engagement.</a:t>
            </a:r>
            <a:endParaRPr lang="en-US" sz="1200" dirty="0"/>
          </a:p>
        </p:txBody>
      </p:sp>
      <p:sp>
        <p:nvSpPr>
          <p:cNvPr id="24" name="Text 11"/>
          <p:cNvSpPr/>
          <p:nvPr/>
        </p:nvSpPr>
        <p:spPr>
          <a:xfrm>
            <a:off x="4508450" y="4394597"/>
            <a:ext cx="31749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RECOMMENDATION</a:t>
            </a:r>
            <a:endParaRPr lang="en-US" sz="1350" dirty="0"/>
          </a:p>
        </p:txBody>
      </p:sp>
      <p:sp>
        <p:nvSpPr>
          <p:cNvPr id="25" name="Text 12"/>
          <p:cNvSpPr/>
          <p:nvPr/>
        </p:nvSpPr>
        <p:spPr>
          <a:xfrm>
            <a:off x="4508450" y="4699397"/>
            <a:ext cx="3174950" cy="639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Prioritize the collaborative filtering engine to drive organic user engagement and platform stickiness.</a:t>
            </a:r>
            <a:endParaRPr lang="en-US" sz="1200" dirty="0"/>
          </a:p>
        </p:txBody>
      </p:sp>
      <p:sp>
        <p:nvSpPr>
          <p:cNvPr id="26" name="Text 13"/>
          <p:cNvSpPr/>
          <p:nvPr/>
        </p:nvSpPr>
        <p:spPr>
          <a:xfrm>
            <a:off x="8254901" y="4394597"/>
            <a:ext cx="3175099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60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CORE VALUES</a:t>
            </a:r>
            <a:endParaRPr lang="en-US" sz="1350" dirty="0"/>
          </a:p>
        </p:txBody>
      </p:sp>
      <p:sp>
        <p:nvSpPr>
          <p:cNvPr id="27" name="Text 14"/>
          <p:cNvSpPr/>
          <p:nvPr/>
        </p:nvSpPr>
        <p:spPr>
          <a:xfrm>
            <a:off x="8254901" y="4699397"/>
            <a:ext cx="3937099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Scalability &amp; Continuous Improvement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85CCDE-C708-FDAA-4AE2-B9F4F832A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564" y="846666"/>
            <a:ext cx="8570871" cy="55710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CF3A9D-D5B7-32E7-D123-9EF8BD8DE77F}"/>
              </a:ext>
            </a:extLst>
          </p:cNvPr>
          <p:cNvSpPr txBox="1"/>
          <p:nvPr/>
        </p:nvSpPr>
        <p:spPr>
          <a:xfrm>
            <a:off x="1810564" y="4402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6D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Preview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05737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05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438" y="4048125"/>
            <a:ext cx="200025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0013" y="4905375"/>
            <a:ext cx="1095375" cy="2571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0638" y="4905375"/>
            <a:ext cx="1123950" cy="2571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9838" y="4905375"/>
            <a:ext cx="914400" cy="2571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9488" y="4905375"/>
            <a:ext cx="952500" cy="257175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3919537" y="2076450"/>
            <a:ext cx="8272463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7500" b="1" kern="0" spc="-120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Thank You</a:t>
            </a:r>
            <a:endParaRPr lang="en-US" sz="7500" dirty="0"/>
          </a:p>
        </p:txBody>
      </p:sp>
      <p:sp>
        <p:nvSpPr>
          <p:cNvPr id="10" name="Text 1"/>
          <p:cNvSpPr/>
          <p:nvPr/>
        </p:nvSpPr>
        <p:spPr>
          <a:xfrm>
            <a:off x="3643313" y="3219450"/>
            <a:ext cx="854868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Driving strategic growth through performance intelligence.</a:t>
            </a:r>
            <a:endParaRPr lang="en-US" sz="1500" dirty="0"/>
          </a:p>
        </p:txBody>
      </p:sp>
      <p:sp>
        <p:nvSpPr>
          <p:cNvPr id="11" name="Text 2"/>
          <p:cNvSpPr/>
          <p:nvPr/>
        </p:nvSpPr>
        <p:spPr>
          <a:xfrm>
            <a:off x="4843463" y="4048125"/>
            <a:ext cx="7348538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Group 8 Project Repository</a:t>
            </a:r>
            <a:endParaRPr lang="en-US" sz="1800" dirty="0"/>
          </a:p>
        </p:txBody>
      </p:sp>
      <p:sp>
        <p:nvSpPr>
          <p:cNvPr id="12" name="Text 3"/>
          <p:cNvSpPr/>
          <p:nvPr/>
        </p:nvSpPr>
        <p:spPr>
          <a:xfrm>
            <a:off x="4052888" y="4905375"/>
            <a:ext cx="1419308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Transparency</a:t>
            </a:r>
            <a:endParaRPr lang="en-US" sz="1050" dirty="0"/>
          </a:p>
        </p:txBody>
      </p:sp>
      <p:sp>
        <p:nvSpPr>
          <p:cNvPr id="13" name="Text 4"/>
          <p:cNvSpPr/>
          <p:nvPr/>
        </p:nvSpPr>
        <p:spPr>
          <a:xfrm>
            <a:off x="5243513" y="4905375"/>
            <a:ext cx="1670717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Data Integrity</a:t>
            </a:r>
            <a:endParaRPr lang="en-US" sz="1050" dirty="0"/>
          </a:p>
        </p:txBody>
      </p:sp>
      <p:sp>
        <p:nvSpPr>
          <p:cNvPr id="14" name="Text 5"/>
          <p:cNvSpPr/>
          <p:nvPr/>
        </p:nvSpPr>
        <p:spPr>
          <a:xfrm>
            <a:off x="6462713" y="4905375"/>
            <a:ext cx="1210151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Scalability</a:t>
            </a:r>
            <a:endParaRPr lang="en-US" sz="1050" dirty="0"/>
          </a:p>
        </p:txBody>
      </p:sp>
      <p:sp>
        <p:nvSpPr>
          <p:cNvPr id="15" name="Text 6"/>
          <p:cNvSpPr/>
          <p:nvPr/>
        </p:nvSpPr>
        <p:spPr>
          <a:xfrm>
            <a:off x="7472363" y="4905375"/>
            <a:ext cx="112014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52B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ROI-Driven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811</Words>
  <Application>Microsoft Office PowerPoint</Application>
  <PresentationFormat>Widescreen</PresentationFormat>
  <Paragraphs>122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Urbanist</vt:lpstr>
      <vt:lpstr>Montserrat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Sourav Singh</cp:lastModifiedBy>
  <cp:revision>6</cp:revision>
  <dcterms:created xsi:type="dcterms:W3CDTF">2026-04-06T19:21:26Z</dcterms:created>
  <dcterms:modified xsi:type="dcterms:W3CDTF">2026-04-06T20:18:37Z</dcterms:modified>
</cp:coreProperties>
</file>