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50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6396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862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258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375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5098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1591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9330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076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8964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06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4967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485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67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162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401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840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502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933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8394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7462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57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22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powerbi.com/groups/me/reports/a93360d1-62c6-4698-bce9-9c1126c1f274/6b8876eaed8060de741e?bookmarkGuid=fc566066-ee94-4551-b7b6-8ba1170b5023&amp;bookmarkUsage=1&amp;ctid=c986676f-9b39-4d08-b4f8-a668e0e8c6a5&amp;portalSessionId=d2fc562f-7502-4295-a590-521da6b654c9&amp;fromEntryPoint=export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658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User Engagement &amp;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Content Performance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7235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Capstone Project Part 1 - Final Presentation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42662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Unlocking Growth with Data-Driven Insights</a:t>
            </a:r>
            <a:endParaRPr lang="en-US" sz="3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59007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Presented by: Group 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603" y="370046"/>
            <a:ext cx="7734453" cy="496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Project Introduction &amp; Objectives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1604" y="1053141"/>
            <a:ext cx="6863596" cy="413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Project Scope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1604" y="1466613"/>
            <a:ext cx="6706195" cy="117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Our analysis delved into 8.5 years of comprehensive user lifecycle data, spanning from 2017 to 2025, to meticulously map out engagement patterns and identify critical touchpoints.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032" y="3101909"/>
            <a:ext cx="4297337" cy="42973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0220" y="1053141"/>
            <a:ext cx="6698575" cy="413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Core Objective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80221" y="1466612"/>
            <a:ext cx="6706195" cy="1174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The primary goal is to address the prevalent "Engagement Crisis" by uncovering the root causes of user churn and developing effective strategies to significantly improve retention rates across the platform.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59" y="3129353"/>
            <a:ext cx="4297337" cy="42973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0354" y="7707154"/>
            <a:ext cx="1353371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Transforming raw user data into actionable strategies is paramount for increasing platform adoption and sustained user growth.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02124" y="7477844"/>
            <a:ext cx="15240" cy="496729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2330" y="626031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Understanding the Problem: Key Challenges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62330" y="2343983"/>
            <a:ext cx="3685223" cy="3066217"/>
          </a:xfrm>
          <a:prstGeom prst="roundRect">
            <a:avLst>
              <a:gd name="adj" fmla="val 1735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91645" y="257329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High User Churn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91645" y="3052762"/>
            <a:ext cx="3226594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 significant proportion of users disengage almost immediately following the sign-up process, indicating a critical early-lifecycle issue.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69247" y="2343983"/>
            <a:ext cx="3685223" cy="3066217"/>
          </a:xfrm>
          <a:prstGeom prst="roundRect">
            <a:avLst>
              <a:gd name="adj" fmla="val 1735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398562" y="257329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Gamification Gaps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98562" y="3052762"/>
            <a:ext cx="3226594" cy="2128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The existing reward mechanisms, such as badges and points, are not effectively incentivising long-term engagement or desired user behavior.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62330" y="5631894"/>
            <a:ext cx="7592139" cy="2002155"/>
          </a:xfrm>
          <a:prstGeom prst="roundRect">
            <a:avLst>
              <a:gd name="adj" fmla="val 2657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1645" y="5861209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Verification Friction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91645" y="6340673"/>
            <a:ext cx="7133511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The current verification process is overly complex, creating a substantial bottleneck that hinders new user onboarding and activation.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59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Dataset at a Glance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2893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Our analysis was powered by a live Athena connection to Halight’s internal database, ensuring real-time insights into user behavior.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8155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Data Volume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53365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~72,000 Unique Users</a:t>
            </a: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: This figure was obtained after a rigorous cleaning process that removed over 30,000 duplicate entries.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4862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Key Attributes Tracked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13838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Profile Information</a:t>
            </a: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: User Type (e.g., Retail Sales), Associated Retailer (e.g., T-Mobile, Allina), and geographical Location data.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94348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Activity Metrics</a:t>
            </a: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: Detailed records of user Logins, accumulated Points, and their Last Online Date.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74858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Account Status</a:t>
            </a: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: Categorisation into Active, Deleted, Disabled, and Verified states.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1980009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471" y="564713"/>
            <a:ext cx="7709059" cy="128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Methodology: From Raw Data to Actionable Insights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71" y="2153483"/>
            <a:ext cx="1025009" cy="18371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47386" y="2358390"/>
            <a:ext cx="2562582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Data Cleaning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947386" y="2743604"/>
            <a:ext cx="6479143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We systematically removed 12 columns exhibiting &gt;90% missing data and effectively managed null values, for instance, by labeling null dates as "Never Verified" for clarity.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71" y="3990618"/>
            <a:ext cx="1025009" cy="18371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47386" y="4195524"/>
            <a:ext cx="2562582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Feature Engineering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947386" y="4580738"/>
            <a:ext cx="6479143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New metrics such as "Days Online" and "Account Age" were created to provide a more accurate measure of true user engagement over time.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471" y="5827752"/>
            <a:ext cx="1025009" cy="18371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7386" y="6032659"/>
            <a:ext cx="2562582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Analysis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947386" y="6417872"/>
            <a:ext cx="6479143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 combination of Univariate Analysis for understanding data distributions and Bivariate Analysis for correlating Verification Status with Retention rates was employed.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3089D676-A7E6-C23C-6131-253B6FDFC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339" y="7359"/>
            <a:ext cx="10713720" cy="7344631"/>
          </a:xfrm>
          <a:prstGeom prst="rect">
            <a:avLst/>
          </a:prstGeom>
          <a:noFill/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7CC129A-C2AA-8536-A455-D5D92530D49D}"/>
              </a:ext>
            </a:extLst>
          </p:cNvPr>
          <p:cNvSpPr txBox="1"/>
          <p:nvPr/>
        </p:nvSpPr>
        <p:spPr>
          <a:xfrm>
            <a:off x="0" y="7306270"/>
            <a:ext cx="14630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https://app.powerbi.com/groups/me/reports/a93360d1-62c6-4698-bce9-9c1126c1f274/6b8876eaed8060de741e?bookmarkGuid=fc566066-ee94-4551-b7b6-8ba1170b5023&amp;bookmarkUsage=1&amp;ctid=c986676f-9b39-4d08-b4f8-a668e0e8c6a5&amp;portalSessionId=d2fc562f-7502-4295-a590-521da6b654c9&amp;fromEntryPoint=export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3FB457-290F-323B-1B60-2F327F1AC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377" y="0"/>
            <a:ext cx="10757646" cy="8229600"/>
          </a:xfrm>
          <a:noFill/>
        </p:spPr>
      </p:pic>
    </p:spTree>
    <p:extLst>
      <p:ext uri="{BB962C8B-B14F-4D97-AF65-F5344CB8AC3E}">
        <p14:creationId xmlns:p14="http://schemas.microsoft.com/office/powerpoint/2010/main" val="180910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95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540" y="3062168"/>
            <a:ext cx="8555474" cy="62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Insight I: The Engagement Drop-off Cliff</a:t>
            </a:r>
            <a:endParaRPr lang="en-US" sz="3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98540" y="3954276"/>
            <a:ext cx="2994184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The "One-Week" Wall</a:t>
            </a:r>
            <a:endParaRPr lang="en-US" sz="2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8540" y="4439126"/>
            <a:ext cx="12640089" cy="62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 striking 75% of users have spent 4 days or less online throughout their entire lifecycle, indicating a significant drop-off </a:t>
            </a:r>
          </a:p>
          <a:p>
            <a:pPr marL="0" indent="0" algn="just">
              <a:lnSpc>
                <a:spcPts val="25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very early 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98540" y="5290123"/>
            <a:ext cx="2994184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Inactive Majority</a:t>
            </a:r>
            <a:endParaRPr lang="en-US" sz="2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8540" y="5731431"/>
            <a:ext cx="12640089" cy="783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Over 50% of our user base has recorded zero learning completions, suggesting a fundamental disconnect with the </a:t>
            </a:r>
          </a:p>
          <a:p>
            <a:pPr marL="0" indent="0" algn="just">
              <a:lnSpc>
                <a:spcPts val="25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platform's core offerings.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98540" y="6582427"/>
            <a:ext cx="2994184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Mobile Opportunity</a:t>
            </a:r>
            <a:endParaRPr lang="en-US" sz="2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98540" y="7023735"/>
            <a:ext cx="12640089" cy="74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Despite prevailing mobile-first trends, 72% of users are not utilising the dedicated app, highlighting a critical need for a "Mobile-First" strategy push.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203" y="526613"/>
            <a:ext cx="7109936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Insight II: The Verification Paradox</a:t>
            </a:r>
            <a:endParaRPr lang="en-US" sz="3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203" y="1584484"/>
            <a:ext cx="6411397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We uncovered a counter-intuitive trend within our user data: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7382" y="2106096"/>
            <a:ext cx="6124218" cy="1479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Users classified as "Partially Verified" frequently exhibit higher engagement, with a median of 50+ days online, compared to "Fully Verified" users, who average only around 10 days.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70203" y="2106097"/>
            <a:ext cx="22860" cy="918686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0203" y="3762681"/>
            <a:ext cx="6411397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Implication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203" y="4182598"/>
            <a:ext cx="6411397" cy="1310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This suggests that our current verification process might be excessively stringent, inadvertently filtering out eager and potentially highly engaged users before they can fully integrate with the platform.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202" y="5670107"/>
            <a:ext cx="6644997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Strategic Shift Required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0203" y="6206136"/>
            <a:ext cx="6411397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835E54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It is imperative that we lower the barrier to entry for new users</a:t>
            </a:r>
            <a:r>
              <a:rPr lang="en-US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to foster greater initial engagement and ultimately improve retention.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421" y="1627584"/>
            <a:ext cx="6411397" cy="64113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0249"/>
            <a:ext cx="117940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Insight III: Retailer Segmentation &amp; Performance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026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Our analysis reveals significant disparities in user engagement across different retailer segments, offering valuable lessons for standardisation.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96960"/>
            <a:ext cx="3470791" cy="283488"/>
          </a:xfrm>
          <a:prstGeom prst="roundRect">
            <a:avLst>
              <a:gd name="adj" fmla="val 3360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296960"/>
            <a:ext cx="2950131" cy="283488"/>
          </a:xfrm>
          <a:prstGeom prst="roundRect">
            <a:avLst>
              <a:gd name="adj" fmla="val 33606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34602" y="3296960"/>
            <a:ext cx="51780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85%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86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T-Mobile Engagement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435423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High engagement with consistent login patterns.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35893" y="3296960"/>
            <a:ext cx="3458289" cy="283488"/>
          </a:xfrm>
          <a:prstGeom prst="roundRect">
            <a:avLst>
              <a:gd name="adj" fmla="val 3360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35893" y="3296960"/>
            <a:ext cx="1037392" cy="283488"/>
          </a:xfrm>
          <a:prstGeom prst="roundRect">
            <a:avLst>
              <a:gd name="adj" fmla="val 33606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64203" y="3296960"/>
            <a:ext cx="53030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30%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35893" y="3863816"/>
            <a:ext cx="35790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Smaller Partners Engagement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35893" y="435423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Exhibiting high "Sign-up and Leave" rates.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77995" y="3296960"/>
            <a:ext cx="3441978" cy="283488"/>
          </a:xfrm>
          <a:prstGeom prst="roundRect">
            <a:avLst>
              <a:gd name="adj" fmla="val 3360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77995" y="3296960"/>
            <a:ext cx="2065139" cy="283488"/>
          </a:xfrm>
          <a:prstGeom prst="roundRect">
            <a:avLst>
              <a:gd name="adj" fmla="val 33606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89994" y="3296960"/>
            <a:ext cx="54661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60%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77995" y="3863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Average Engagement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77995" y="435423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Platform-wide average engagement.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3790" y="53351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The performance gap between retailers highlights opportunities for sharing best practices.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3951" y="6208395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Onboarding strategies proven successful with top-tier segments, such as T-Mobile, should be rigorously standardised and rolled out across the entire platform to uplift overall engagement.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3790" y="5953244"/>
            <a:ext cx="30480" cy="123610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"/>
            <a:ext cx="14630400" cy="2824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" y="3638312"/>
            <a:ext cx="8730734" cy="70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Future Work &amp; Innovation Roadmap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0932" y="4683443"/>
            <a:ext cx="13048536" cy="2763203"/>
          </a:xfrm>
          <a:prstGeom prst="roundRect">
            <a:avLst>
              <a:gd name="adj" fmla="val 343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8552" y="4691063"/>
            <a:ext cx="4344353" cy="2747963"/>
          </a:xfrm>
          <a:prstGeom prst="roundRect">
            <a:avLst>
              <a:gd name="adj" fmla="val 3454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4533" y="4917043"/>
            <a:ext cx="3306842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AI-Driven Dashboard Agent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4533" y="5405676"/>
            <a:ext cx="3553420" cy="1807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Implement a "Chat with Data" AI agent (LLM) for real-time updates and instant answers to queries like "Which region had the highest drop-off yesterday?"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42905" y="4691063"/>
            <a:ext cx="4344472" cy="2747963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42905" y="4691063"/>
            <a:ext cx="30480" cy="2747963"/>
          </a:xfrm>
          <a:prstGeom prst="roundRect">
            <a:avLst>
              <a:gd name="adj" fmla="val 311406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07856" y="4917043"/>
            <a:ext cx="3202305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Predictive Churn Classifier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07856" y="5405676"/>
            <a:ext cx="3214568" cy="1807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Develop a Machine Learning model to proactively flag "At-Risk" users, enabling interventions before account deletion.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60488" y="5782568"/>
            <a:ext cx="564952" cy="564952"/>
          </a:xfrm>
          <a:prstGeom prst="roundRect">
            <a:avLst>
              <a:gd name="adj" fmla="val 16801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1697" y="5923776"/>
            <a:ext cx="282416" cy="2824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487376" y="4691063"/>
            <a:ext cx="4344353" cy="2747963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487376" y="4691063"/>
            <a:ext cx="30480" cy="2747963"/>
          </a:xfrm>
          <a:prstGeom prst="roundRect">
            <a:avLst>
              <a:gd name="adj" fmla="val 311406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052328" y="4917043"/>
            <a:ext cx="340316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Dynamic Persona Clustering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052328" y="5405676"/>
            <a:ext cx="3553420" cy="1807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Utilise unsupervised learning (K-Means) to group users by behavioral patterns (e.g., "Weekend Learners") rather than static job titles.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204960" y="5782568"/>
            <a:ext cx="564952" cy="564952"/>
          </a:xfrm>
          <a:prstGeom prst="roundRect">
            <a:avLst>
              <a:gd name="adj" fmla="val 16801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6168" y="5923776"/>
            <a:ext cx="282416" cy="2824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ll view">
            <a:extLst>
              <a:ext uri="{FF2B5EF4-FFF2-40B4-BE49-F238E27FC236}">
                <a16:creationId xmlns:a16="http://schemas.microsoft.com/office/drawing/2014/main" id="{55CC8CDA-9A71-785E-88E6-4B1725EFA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3" b="12132"/>
          <a:stretch>
            <a:fillRect/>
          </a:stretch>
        </p:blipFill>
        <p:spPr bwMode="auto">
          <a:xfrm>
            <a:off x="1226820" y="690085"/>
            <a:ext cx="12176760" cy="684942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150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</TotalTime>
  <Words>828</Words>
  <Application>Microsoft Office PowerPoint</Application>
  <PresentationFormat>Custom</PresentationFormat>
  <Paragraphs>80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Aum Bimalbhai Gajjar</cp:lastModifiedBy>
  <cp:revision>25</cp:revision>
  <dcterms:created xsi:type="dcterms:W3CDTF">2025-12-01T09:12:08Z</dcterms:created>
  <dcterms:modified xsi:type="dcterms:W3CDTF">2025-12-01T09:49:05Z</dcterms:modified>
</cp:coreProperties>
</file>